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946" y="2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5487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builds a complete data warehouse and business intelligence solution on the Olist Brazilian e-commerce dataset, using the Microsoft BI stack: SQL Server, SSIS for ETL, SSAS for the OLAP cube and Power BI for the dashboards. I will give a short overview of how the solution was built, then spend most of the time on the three dashboards and what they tell the business.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comes from Olist's order management system, published on Kaggle. It has about one hundred thousand orders from September 2016 to October 2018, in nine related CSV files. That makes it a realistic OLTP source: normalised tables linked by keys. Our cube reports 13.49 million reais of real revenue, which excludes cancelled and unavailable orders.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three sources of three different formats, as a real company would. S1 is the operational SQL Server database holding the seven transactional tables. S2 is two CSV reference files: geolocation and the category translation. S3 is a live web API that returns Brazilian public holidays as JSON, which we use to flag holidays in the Date dimension. They join through zip code prefix, category name and calendar date.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four layers. Sources are read once by SSIS: package 01 extracts everything into staging, packages 02 and 03 transform and load the dimensions and facts, and master package 00 runs them in order and then runs 16 validation checks. Storage is one database, Olist_DW, split into four schemas: staging, the warehouse, the data marts and the ETL log. On top, the SSAS cube provides the OLAP model and Power BI connects live to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designing the ETL we profiled the data with SQL queries. The biggest finding is that customer_id changes with every order, so 99,441 customer rows are really 96,096 people. We also found undelivered orders, products without a category, duplicate reviews, geolocation points outside Brazil and three state-only holidays in the national list. Each finding has a rule that is applied during transformation.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warehouse uses two fact tables that share the same dimensions, which is a fact constellation or galaxy schema. Fact_Sales stores one row per item for sales analysis. Fact_OrderFulfilment stores one row per order, because delivery, payment and review values belong to the whole order and repeating them on every item would distort averages. Date is a role-playing dimension used for purchase, delivered and estimated dates, and Location is used for both customer and seller locations.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ETL is one SSIS project with four packages. Package 01 extracts all three sources into staging. Package 02 transforms and loads the seven dimensions, using T-SQL source queries for cleaning, standardising and deriving attributes. Package 03 looks up the surrogate keys and loads the two fact tables. The master package runs them in order and then a validation procedure with 16 checks. All 16 passed on repeated runs, so the load is complete and repeatable.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warehouse we built two department data marts as views. The Sales Mart gives sales and marketing a flat table of real sales: it removes the 549 items of cancelled and unavailable orders, leaving 112,101 rows. The Delivery and Satisfaction Mart gives operations one row per delivered order with delivery time, lateness, payment and review score, 96,476 rows. Because they are views, they need no extra ETL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OLAP layer is an SSAS multidimensional cube. It has the seven dimensions, with Location used twice and Date used three times, two measure groups for sales and order fulfilment, and calculated members for revenue, average delivery days, average review score and late delivery percentage. The user hierarchies give us drill-down and roll-up. Every cube total was checked against the warehouse, and Power BI shows the same numbers because it connects live to the cube. In the cube browser we demonstrated roll-up, drill-down, slice, dice and pivot.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main part: the dashboards. The Power BI report connects live to the cube, so every number matches the cube. All three pages share one design: a sidebar with page navigation and slicers for Year, State City and Product Category. A month filter removes the five nearly empty months at the start and end, so every page covers January 2017 to August 2018.</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Summary gives managers the overall position. Seven KPI cards show revenue of 13.45 million reais for January 2017 to August 2018, about 98 thousand orders and 112 thousand items, an average delivery of 12.5 days, 6.79 percent late deliveries and an average review of 4.09. The donut shows that São Paulo state receives about 46 percent of orders. The quarterly chart shows orders growing from about 5 thousand in 2017 Q1 to about 21 thousand in 2018 Q1. Health and beauty, watches and gifts, and bed bath table lead the categories, and the largest seller brings only about 2 percent of revenue, so the business does not depend on one seller.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Trend Analysis page shows change over time. Orders grew about four times from 2017 Q1 to 2018 Q1, and revenue 3.8 times. Growth then levelled off in 2018. November 2017, Black Friday, was the biggest month with 7,544 orders. The delivery chart shows the slowest deliveries in February 2018 at about 17 days, and the review chart shows the score dropping to about 3.9 in November 2017 and 3.75 in March 2018, right after the two busiest periods, before recovering to about 4.3 by June 2018. The revenue chart compares each quarter of 2017 with 2018. The 2018 Q3 drop is only because that quarter holds July and August.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Interactive Analysis page is for exploring. Here the Year slicer is set to 2017. The region table shows that sellers in the Southeast produced 77.9 percent of 2017 revenue, more than the 64 percent bought by Southeast customers, so a lot of goods ship long distances. The bar chart shows customers in remote regions spend more per order: about 178 reais in the North against 130 in the Southeast. The matrix on the right uses the Geography hierarchy: clicking plus on a state drills down to its cities, and the up arrow rolls back up. São Paulo alone produced 35.9 percent of 2017 revenue.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dashboards we drew eight insights; here are six. Demand grew about four times in a year, so capacity must be planned on the 2018 level. November 2017 was the biggest spike and growth then levelled off, so peaks need early preparation. São Paulo, Rio and Minas Gerais bring 62.4 percent of revenue. Sellers are even more concentrated: 77.9 percent of revenue comes from Southeast sellers, so we recommend recruiting sellers nearer other regions. Delivery slowed after the two busiest periods and reviews fell to about 3.75, so capacity should be added before peaks. And customers rarely come back, about 1.03 orders per customer, so a repeat-purchase programme is the clearest opportunity.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three different sources are integrated by an SSIS ETL that is validated by 16 checks, stored in a fact constellation warehouse with two department data marts, analysed through an SSAS cube, and presented in three Power BI dashboards that support decisions on growth, regions, sellers, delivery and customer retention. The main limitations are that there is no cost or profit data, the first and last months are incomplete, and customers and sellers are anonymised.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1F4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1C2B45"/>
                </a:solidFill>
                <a:latin typeface="Poppins" pitchFamily="34" charset="0"/>
                <a:ea typeface="Poppins" pitchFamily="34" charset="-122"/>
                <a:cs typeface="Poppi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521"/>
            <a:ext cx="10566400" cy="4170679"/>
          </a:xfrm>
          <a:prstGeom prst="rect">
            <a:avLst/>
          </a:prstGeom>
          <a:noFill/>
          <a:ln/>
        </p:spPr>
        <p:txBody>
          <a:bodyPr wrap="square" lIns="0" tIns="0" rIns="0" bIns="0" rtlCol="0" anchor="t"/>
          <a:lstStyle>
            <a:lvl1pPr marL="0" indent="0" algn="l">
              <a:lnSpc>
                <a:spcPct val="140000"/>
              </a:lnSpc>
              <a:buNone/>
              <a:defRPr lang="en-US" sz="1600" dirty="0">
                <a:solidFill>
                  <a:srgbClr val="1C2B45"/>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1F4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1C2B45"/>
                </a:solidFill>
                <a:latin typeface="Poppins" pitchFamily="34" charset="0"/>
                <a:ea typeface="Poppins" pitchFamily="34" charset="-122"/>
                <a:cs typeface="Poppi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521"/>
            <a:ext cx="10566400" cy="4170679"/>
          </a:xfrm>
          <a:prstGeom prst="rect">
            <a:avLst/>
          </a:prstGeom>
          <a:noFill/>
          <a:ln/>
        </p:spPr>
        <p:txBody>
          <a:bodyPr wrap="square" lIns="0" tIns="0" rIns="0" bIns="0" rtlCol="0" anchor="t"/>
          <a:lstStyle>
            <a:lvl1pPr marL="0" indent="0" algn="l">
              <a:lnSpc>
                <a:spcPct val="140000"/>
              </a:lnSpc>
              <a:buNone/>
              <a:defRPr lang="en-US" sz="1600" dirty="0">
                <a:solidFill>
                  <a:srgbClr val="1C2B45"/>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45"/>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C2B45"/>
              </a:gs>
              <a:gs pos="100000">
                <a:srgbClr val="2B3F63"/>
              </a:gs>
            </a:gsLst>
            <a:lin ang="2700000" scaled="0"/>
          </a:gradFill>
          <a:ln/>
        </p:spPr>
      </p:sp>
      <p:pic>
        <p:nvPicPr>
          <p:cNvPr id="3" name="Image 0" descr="ellipse"/>
          <p:cNvPicPr>
            <a:picLocks noChangeAspect="1"/>
          </p:cNvPicPr>
          <p:nvPr/>
        </p:nvPicPr>
        <p:blipFill>
          <a:blip r:embed="rId3"/>
          <a:srcRect/>
          <a:stretch/>
        </p:blipFill>
        <p:spPr>
          <a:xfrm>
            <a:off x="8636000" y="0"/>
            <a:ext cx="4826000" cy="4826000"/>
          </a:xfrm>
          <a:prstGeom prst="rect">
            <a:avLst/>
          </a:prstGeom>
        </p:spPr>
      </p:pic>
      <p:pic>
        <p:nvPicPr>
          <p:cNvPr id="4" name="Image 1" descr="ellipse"/>
          <p:cNvPicPr>
            <a:picLocks noChangeAspect="1"/>
          </p:cNvPicPr>
          <p:nvPr/>
        </p:nvPicPr>
        <p:blipFill>
          <a:blip r:embed="rId4"/>
          <a:srcRect/>
          <a:stretch/>
        </p:blipFill>
        <p:spPr>
          <a:xfrm>
            <a:off x="9525000" y="0"/>
            <a:ext cx="3048000" cy="3048000"/>
          </a:xfrm>
          <a:prstGeom prst="rect">
            <a:avLst/>
          </a:prstGeom>
        </p:spPr>
      </p:pic>
      <p:sp>
        <p:nvSpPr>
          <p:cNvPr id="5" name="Text 1"/>
          <p:cNvSpPr/>
          <p:nvPr/>
        </p:nvSpPr>
        <p:spPr>
          <a:xfrm>
            <a:off x="812800" y="115808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8DB4F7"/>
                </a:solidFill>
                <a:latin typeface="DM Sans" pitchFamily="34" charset="0"/>
                <a:ea typeface="DM Sans" pitchFamily="34" charset="-122"/>
                <a:cs typeface="DM Sans" pitchFamily="34" charset="-120"/>
              </a:rPr>
              <a:t>IT3101 · DATA WAREHOUSING AND BUSINESS INTELLIGENCE</a:t>
            </a:r>
            <a:endParaRPr lang="en-US" sz="1400" dirty="0"/>
          </a:p>
        </p:txBody>
      </p:sp>
      <p:sp>
        <p:nvSpPr>
          <p:cNvPr id="6" name="Text 2"/>
          <p:cNvSpPr>
            <a:spLocks noGrp="1"/>
          </p:cNvSpPr>
          <p:nvPr>
            <p:ph type="title"/>
          </p:nvPr>
        </p:nvSpPr>
        <p:spPr>
          <a:xfrm>
            <a:off x="812800" y="1661001"/>
            <a:ext cx="9156700" cy="2878138"/>
          </a:xfrm>
          <a:prstGeom prst="rect">
            <a:avLst/>
          </a:prstGeom>
          <a:noFill/>
          <a:ln/>
        </p:spPr>
        <p:txBody>
          <a:bodyPr wrap="square" lIns="0" tIns="0" rIns="0" bIns="0" rtlCol="0" anchor="t">
            <a:normAutofit/>
          </a:bodyPr>
          <a:lstStyle/>
          <a:p>
            <a:pPr marL="0" indent="0" algn="l">
              <a:lnSpc>
                <a:spcPts val="5616"/>
              </a:lnSpc>
              <a:buNone/>
            </a:pPr>
            <a:r>
              <a:rPr lang="en-US" sz="5200" b="1" i="0" dirty="0">
                <a:solidFill>
                  <a:srgbClr val="F1F4F9"/>
                </a:solidFill>
                <a:latin typeface="Poppins" pitchFamily="34" charset="0"/>
                <a:ea typeface="Poppins" pitchFamily="34" charset="-122"/>
                <a:cs typeface="Poppins" pitchFamily="34" charset="-120"/>
              </a:rPr>
              <a:t>Olist Brazilian E-Commerce</a:t>
            </a:r>
            <a:endParaRPr lang="en-US" sz="5200" dirty="0"/>
          </a:p>
          <a:p>
            <a:pPr marL="0" indent="0" algn="l">
              <a:lnSpc>
                <a:spcPts val="5616"/>
              </a:lnSpc>
              <a:buNone/>
            </a:pPr>
            <a:r>
              <a:rPr lang="en-US" sz="5200" b="1" i="0" dirty="0">
                <a:solidFill>
                  <a:srgbClr val="F1F4F9"/>
                </a:solidFill>
                <a:latin typeface="Poppins" pitchFamily="34" charset="0"/>
                <a:ea typeface="Poppins" pitchFamily="34" charset="-122"/>
                <a:cs typeface="Poppins" pitchFamily="34" charset="-120"/>
              </a:rPr>
              <a:t>Data Warehouse &amp; BI Solution</a:t>
            </a:r>
            <a:endParaRPr lang="en-US" sz="5200" dirty="0"/>
          </a:p>
        </p:txBody>
      </p:sp>
      <p:sp>
        <p:nvSpPr>
          <p:cNvPr id="7" name="Text 3"/>
          <p:cNvSpPr/>
          <p:nvPr/>
        </p:nvSpPr>
        <p:spPr>
          <a:xfrm>
            <a:off x="812800" y="4767739"/>
            <a:ext cx="990600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FCBE0"/>
                </a:solidFill>
                <a:latin typeface="DM Sans" pitchFamily="34" charset="0"/>
                <a:ea typeface="DM Sans" pitchFamily="34" charset="-122"/>
                <a:cs typeface="DM Sans" pitchFamily="34" charset="-120"/>
              </a:rPr>
              <a:t>From raw marketplace data to an SSAS cube and three Power BI dashboards</a:t>
            </a:r>
            <a:endParaRPr lang="en-US" sz="1800" dirty="0"/>
          </a:p>
        </p:txBody>
      </p:sp>
      <p:sp>
        <p:nvSpPr>
          <p:cNvPr id="8" name="Text 4"/>
          <p:cNvSpPr/>
          <p:nvPr/>
        </p:nvSpPr>
        <p:spPr>
          <a:xfrm>
            <a:off x="812800" y="5341779"/>
            <a:ext cx="1160463" cy="358140"/>
          </a:xfrm>
          <a:prstGeom prst="roundRect">
            <a:avLst>
              <a:gd name="adj" fmla="val 50000"/>
            </a:avLst>
          </a:prstGeom>
          <a:solidFill>
            <a:srgbClr val="8DB4F7"/>
          </a:solidFill>
          <a:ln/>
        </p:spPr>
        <p:txBody>
          <a:bodyPr wrap="none" lIns="0" tIns="0" rIns="0" bIns="0" rtlCol="0" anchor="ctr">
            <a:normAutofit/>
          </a:bodyPr>
          <a:lstStyle/>
          <a:p>
            <a:pPr marL="0" indent="0" algn="ctr">
              <a:lnSpc>
                <a:spcPts val="1820"/>
              </a:lnSpc>
              <a:buNone/>
            </a:pPr>
            <a:r>
              <a:rPr lang="en-US" sz="1300" dirty="0">
                <a:solidFill>
                  <a:srgbClr val="1C2B45"/>
                </a:solidFill>
                <a:latin typeface="DM Sans" pitchFamily="34" charset="0"/>
                <a:ea typeface="DM Sans" pitchFamily="34" charset="-122"/>
                <a:cs typeface="DM Sans" pitchFamily="34" charset="-120"/>
              </a:rPr>
              <a:t>SQL Server</a:t>
            </a:r>
            <a:endParaRPr lang="en-US" sz="1300" dirty="0"/>
          </a:p>
        </p:txBody>
      </p:sp>
      <p:sp>
        <p:nvSpPr>
          <p:cNvPr id="9" name="Text 5"/>
          <p:cNvSpPr/>
          <p:nvPr/>
        </p:nvSpPr>
        <p:spPr>
          <a:xfrm>
            <a:off x="2125663" y="5341779"/>
            <a:ext cx="636667" cy="358140"/>
          </a:xfrm>
          <a:prstGeom prst="roundRect">
            <a:avLst>
              <a:gd name="adj" fmla="val 50000"/>
            </a:avLst>
          </a:prstGeom>
          <a:solidFill>
            <a:srgbClr val="8DB4F7"/>
          </a:solidFill>
          <a:ln/>
        </p:spPr>
        <p:txBody>
          <a:bodyPr wrap="none" lIns="0" tIns="0" rIns="0" bIns="0" rtlCol="0" anchor="ctr">
            <a:normAutofit/>
          </a:bodyPr>
          <a:lstStyle/>
          <a:p>
            <a:pPr marL="0" indent="0" algn="ctr">
              <a:lnSpc>
                <a:spcPts val="1820"/>
              </a:lnSpc>
              <a:buNone/>
            </a:pPr>
            <a:r>
              <a:rPr lang="en-US" sz="1300" dirty="0">
                <a:solidFill>
                  <a:srgbClr val="1C2B45"/>
                </a:solidFill>
                <a:latin typeface="DM Sans" pitchFamily="34" charset="0"/>
                <a:ea typeface="DM Sans" pitchFamily="34" charset="-122"/>
                <a:cs typeface="DM Sans" pitchFamily="34" charset="-120"/>
              </a:rPr>
              <a:t>SSIS</a:t>
            </a:r>
            <a:endParaRPr lang="en-US" sz="1300" dirty="0"/>
          </a:p>
        </p:txBody>
      </p:sp>
      <p:sp>
        <p:nvSpPr>
          <p:cNvPr id="10" name="Text 6"/>
          <p:cNvSpPr/>
          <p:nvPr/>
        </p:nvSpPr>
        <p:spPr>
          <a:xfrm>
            <a:off x="2914729" y="5341779"/>
            <a:ext cx="708025" cy="358140"/>
          </a:xfrm>
          <a:prstGeom prst="roundRect">
            <a:avLst>
              <a:gd name="adj" fmla="val 50000"/>
            </a:avLst>
          </a:prstGeom>
          <a:solidFill>
            <a:srgbClr val="8DB4F7"/>
          </a:solidFill>
          <a:ln/>
        </p:spPr>
        <p:txBody>
          <a:bodyPr wrap="none" lIns="0" tIns="0" rIns="0" bIns="0" rtlCol="0" anchor="ctr">
            <a:normAutofit/>
          </a:bodyPr>
          <a:lstStyle/>
          <a:p>
            <a:pPr marL="0" indent="0" algn="ctr">
              <a:lnSpc>
                <a:spcPts val="1820"/>
              </a:lnSpc>
              <a:buNone/>
            </a:pPr>
            <a:r>
              <a:rPr lang="en-US" sz="1300" dirty="0">
                <a:solidFill>
                  <a:srgbClr val="1C2B45"/>
                </a:solidFill>
                <a:latin typeface="DM Sans" pitchFamily="34" charset="0"/>
                <a:ea typeface="DM Sans" pitchFamily="34" charset="-122"/>
                <a:cs typeface="DM Sans" pitchFamily="34" charset="-120"/>
              </a:rPr>
              <a:t>SSAS</a:t>
            </a:r>
            <a:endParaRPr lang="en-US" sz="1300" dirty="0"/>
          </a:p>
        </p:txBody>
      </p:sp>
      <p:sp>
        <p:nvSpPr>
          <p:cNvPr id="11" name="Text 7"/>
          <p:cNvSpPr/>
          <p:nvPr/>
        </p:nvSpPr>
        <p:spPr>
          <a:xfrm>
            <a:off x="3775154" y="5341779"/>
            <a:ext cx="962343" cy="358140"/>
          </a:xfrm>
          <a:prstGeom prst="roundRect">
            <a:avLst>
              <a:gd name="adj" fmla="val 50000"/>
            </a:avLst>
          </a:prstGeom>
          <a:solidFill>
            <a:srgbClr val="8DB4F7"/>
          </a:solidFill>
          <a:ln/>
        </p:spPr>
        <p:txBody>
          <a:bodyPr wrap="none" lIns="0" tIns="0" rIns="0" bIns="0" rtlCol="0" anchor="ctr">
            <a:normAutofit/>
          </a:bodyPr>
          <a:lstStyle/>
          <a:p>
            <a:pPr marL="0" indent="0" algn="ctr">
              <a:lnSpc>
                <a:spcPts val="1820"/>
              </a:lnSpc>
              <a:buNone/>
            </a:pPr>
            <a:r>
              <a:rPr lang="en-US" sz="1300" dirty="0">
                <a:solidFill>
                  <a:srgbClr val="1C2B45"/>
                </a:solidFill>
                <a:latin typeface="DM Sans" pitchFamily="34" charset="0"/>
                <a:ea typeface="DM Sans" pitchFamily="34" charset="-122"/>
                <a:cs typeface="DM Sans" pitchFamily="34" charset="-120"/>
              </a:rPr>
              <a:t>Power BI</a:t>
            </a:r>
            <a:endParaRPr lang="en-US" sz="1300" dirty="0"/>
          </a:p>
        </p:txBody>
      </p:sp>
      <p:sp>
        <p:nvSpPr>
          <p:cNvPr id="12" name="Text 8"/>
          <p:cNvSpPr/>
          <p:nvPr/>
        </p:nvSpPr>
        <p:spPr>
          <a:xfrm>
            <a:off x="812800" y="62382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BE0"/>
                </a:solidFill>
                <a:latin typeface="DM Sans" pitchFamily="34" charset="0"/>
                <a:ea typeface="DM Sans" pitchFamily="34" charset="-122"/>
                <a:cs typeface="DM Sans" pitchFamily="34" charset="-120"/>
              </a:rPr>
              <a:t>Group: IT24104110 · IT24103860 · IT24103869 · IT24104178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D6"/>
                </a:solidFill>
                <a:latin typeface="DM Sans" pitchFamily="34" charset="0"/>
                <a:ea typeface="DM Sans" pitchFamily="34" charset="-122"/>
                <a:cs typeface="DM Sans" pitchFamily="34" charset="-120"/>
              </a:rPr>
              <a:t>PROJECT OVERVIEW</a:t>
            </a:r>
            <a:endParaRPr lang="en-US" sz="1200" dirty="0"/>
          </a:p>
        </p:txBody>
      </p:sp>
      <p:sp>
        <p:nvSpPr>
          <p:cNvPr id="3" name="Text 1"/>
          <p:cNvSpPr>
            <a:spLocks noGrp="1"/>
          </p:cNvSpPr>
          <p:nvPr>
            <p:ph type="title"/>
          </p:nvPr>
        </p:nvSpPr>
        <p:spPr>
          <a:xfrm>
            <a:off x="812800" y="110236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B45"/>
                </a:solidFill>
                <a:latin typeface="Poppins" pitchFamily="34" charset="0"/>
                <a:ea typeface="Poppins" pitchFamily="34" charset="-122"/>
                <a:cs typeface="Poppins" pitchFamily="34" charset="-120"/>
              </a:rPr>
              <a:t>The project at a glance</a:t>
            </a:r>
            <a:endParaRPr lang="en-US" sz="3200" dirty="0"/>
          </a:p>
        </p:txBody>
      </p:sp>
      <p:sp>
        <p:nvSpPr>
          <p:cNvPr id="4" name="Text 2"/>
          <p:cNvSpPr/>
          <p:nvPr/>
        </p:nvSpPr>
        <p:spPr>
          <a:xfrm>
            <a:off x="812800" y="1874520"/>
            <a:ext cx="9810750" cy="61468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4A5568"/>
                </a:solidFill>
                <a:latin typeface="DM Sans" pitchFamily="34" charset="0"/>
                <a:ea typeface="DM Sans" pitchFamily="34" charset="-122"/>
                <a:cs typeface="DM Sans" pitchFamily="34" charset="-120"/>
              </a:rPr>
              <a:t>Olist is a Brazilian online marketplace that connects small sellers with customers. We turned its order data into a warehouse that managers can query by time, product, seller and location.</a:t>
            </a:r>
            <a:endParaRPr lang="en-US" sz="1600" dirty="0"/>
          </a:p>
        </p:txBody>
      </p:sp>
      <p:sp>
        <p:nvSpPr>
          <p:cNvPr id="5" name="Shape 3"/>
          <p:cNvSpPr/>
          <p:nvPr/>
        </p:nvSpPr>
        <p:spPr>
          <a:xfrm>
            <a:off x="815975" y="2771775"/>
            <a:ext cx="2520950" cy="1543050"/>
          </a:xfrm>
          <a:prstGeom prst="roundRect">
            <a:avLst>
              <a:gd name="adj" fmla="val 8025"/>
            </a:avLst>
          </a:prstGeom>
          <a:solidFill>
            <a:srgbClr val="FBFCFE"/>
          </a:solidFill>
          <a:ln w="6350">
            <a:solidFill>
              <a:srgbClr val="DCE3EE"/>
            </a:solidFill>
            <a:prstDash val="solid"/>
          </a:ln>
        </p:spPr>
      </p:sp>
      <p:sp>
        <p:nvSpPr>
          <p:cNvPr id="6" name="Text 4"/>
          <p:cNvSpPr/>
          <p:nvPr/>
        </p:nvSpPr>
        <p:spPr>
          <a:xfrm>
            <a:off x="1046480" y="3002280"/>
            <a:ext cx="2121738"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C2B45"/>
                </a:solidFill>
                <a:latin typeface="Poppins" pitchFamily="34" charset="0"/>
                <a:ea typeface="Poppins" pitchFamily="34" charset="-122"/>
                <a:cs typeface="Poppins" pitchFamily="34" charset="-120"/>
              </a:rPr>
              <a:t>99,441</a:t>
            </a:r>
            <a:endParaRPr lang="en-US" sz="3200" dirty="0"/>
          </a:p>
        </p:txBody>
      </p:sp>
      <p:sp>
        <p:nvSpPr>
          <p:cNvPr id="7" name="Text 5"/>
          <p:cNvSpPr/>
          <p:nvPr/>
        </p:nvSpPr>
        <p:spPr>
          <a:xfrm>
            <a:off x="1046480" y="3622040"/>
            <a:ext cx="212173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orders, September 2016 to October 2018</a:t>
            </a:r>
            <a:endParaRPr lang="en-US" sz="1300" dirty="0"/>
          </a:p>
        </p:txBody>
      </p:sp>
      <p:sp>
        <p:nvSpPr>
          <p:cNvPr id="8" name="Shape 6"/>
          <p:cNvSpPr/>
          <p:nvPr/>
        </p:nvSpPr>
        <p:spPr>
          <a:xfrm>
            <a:off x="3495675" y="2771775"/>
            <a:ext cx="2520950" cy="1543050"/>
          </a:xfrm>
          <a:prstGeom prst="roundRect">
            <a:avLst>
              <a:gd name="adj" fmla="val 8025"/>
            </a:avLst>
          </a:prstGeom>
          <a:solidFill>
            <a:srgbClr val="FBFCFE"/>
          </a:solidFill>
          <a:ln w="6350">
            <a:solidFill>
              <a:srgbClr val="DCE3EE"/>
            </a:solidFill>
            <a:prstDash val="solid"/>
          </a:ln>
        </p:spPr>
      </p:sp>
      <p:sp>
        <p:nvSpPr>
          <p:cNvPr id="9" name="Text 7"/>
          <p:cNvSpPr/>
          <p:nvPr/>
        </p:nvSpPr>
        <p:spPr>
          <a:xfrm>
            <a:off x="3726180" y="3002280"/>
            <a:ext cx="2121738"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C2B45"/>
                </a:solidFill>
                <a:latin typeface="Poppins" pitchFamily="34" charset="0"/>
                <a:ea typeface="Poppins" pitchFamily="34" charset="-122"/>
                <a:cs typeface="Poppins" pitchFamily="34" charset="-120"/>
              </a:rPr>
              <a:t>112,650</a:t>
            </a:r>
            <a:endParaRPr lang="en-US" sz="3200" dirty="0"/>
          </a:p>
        </p:txBody>
      </p:sp>
      <p:sp>
        <p:nvSpPr>
          <p:cNvPr id="10" name="Text 8"/>
          <p:cNvSpPr/>
          <p:nvPr/>
        </p:nvSpPr>
        <p:spPr>
          <a:xfrm>
            <a:off x="3726180" y="3622040"/>
            <a:ext cx="212173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order items sold by 3,095 sellers</a:t>
            </a:r>
            <a:endParaRPr lang="en-US" sz="1300" dirty="0"/>
          </a:p>
        </p:txBody>
      </p:sp>
      <p:sp>
        <p:nvSpPr>
          <p:cNvPr id="11" name="Shape 9"/>
          <p:cNvSpPr/>
          <p:nvPr/>
        </p:nvSpPr>
        <p:spPr>
          <a:xfrm>
            <a:off x="6175375" y="2771775"/>
            <a:ext cx="2520950" cy="1543050"/>
          </a:xfrm>
          <a:prstGeom prst="roundRect">
            <a:avLst>
              <a:gd name="adj" fmla="val 8025"/>
            </a:avLst>
          </a:prstGeom>
          <a:solidFill>
            <a:srgbClr val="FBFCFE"/>
          </a:solidFill>
          <a:ln w="6350">
            <a:solidFill>
              <a:srgbClr val="DCE3EE"/>
            </a:solidFill>
            <a:prstDash val="solid"/>
          </a:ln>
        </p:spPr>
      </p:sp>
      <p:sp>
        <p:nvSpPr>
          <p:cNvPr id="12" name="Text 10"/>
          <p:cNvSpPr/>
          <p:nvPr/>
        </p:nvSpPr>
        <p:spPr>
          <a:xfrm>
            <a:off x="6405880" y="3002280"/>
            <a:ext cx="2121738"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C2B45"/>
                </a:solidFill>
                <a:latin typeface="Poppins" pitchFamily="34" charset="0"/>
                <a:ea typeface="Poppins" pitchFamily="34" charset="-122"/>
                <a:cs typeface="Poppins" pitchFamily="34" charset="-120"/>
              </a:rPr>
              <a:t>3</a:t>
            </a:r>
            <a:endParaRPr lang="en-US" sz="3200" dirty="0"/>
          </a:p>
        </p:txBody>
      </p:sp>
      <p:sp>
        <p:nvSpPr>
          <p:cNvPr id="13" name="Text 11"/>
          <p:cNvSpPr/>
          <p:nvPr/>
        </p:nvSpPr>
        <p:spPr>
          <a:xfrm>
            <a:off x="6405880" y="3622040"/>
            <a:ext cx="212173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source types: database, CSV files, JSON API</a:t>
            </a:r>
            <a:endParaRPr lang="en-US" sz="1300" dirty="0"/>
          </a:p>
        </p:txBody>
      </p:sp>
      <p:sp>
        <p:nvSpPr>
          <p:cNvPr id="14" name="Shape 12"/>
          <p:cNvSpPr/>
          <p:nvPr/>
        </p:nvSpPr>
        <p:spPr>
          <a:xfrm>
            <a:off x="8855075" y="2771775"/>
            <a:ext cx="2520950" cy="1543050"/>
          </a:xfrm>
          <a:prstGeom prst="roundRect">
            <a:avLst>
              <a:gd name="adj" fmla="val 8025"/>
            </a:avLst>
          </a:prstGeom>
          <a:solidFill>
            <a:srgbClr val="FBFCFE"/>
          </a:solidFill>
          <a:ln w="6350">
            <a:solidFill>
              <a:srgbClr val="DCE3EE"/>
            </a:solidFill>
            <a:prstDash val="solid"/>
          </a:ln>
        </p:spPr>
      </p:sp>
      <p:sp>
        <p:nvSpPr>
          <p:cNvPr id="15" name="Text 13"/>
          <p:cNvSpPr/>
          <p:nvPr/>
        </p:nvSpPr>
        <p:spPr>
          <a:xfrm>
            <a:off x="9085580" y="3002280"/>
            <a:ext cx="2287270"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C2B45"/>
                </a:solidFill>
                <a:latin typeface="Poppins" pitchFamily="34" charset="0"/>
                <a:ea typeface="Poppins" pitchFamily="34" charset="-122"/>
                <a:cs typeface="Poppins" pitchFamily="34" charset="-120"/>
              </a:rPr>
              <a:t>R$ 13.49M</a:t>
            </a:r>
            <a:endParaRPr lang="en-US" sz="3200" dirty="0"/>
          </a:p>
        </p:txBody>
      </p:sp>
      <p:sp>
        <p:nvSpPr>
          <p:cNvPr id="16" name="Text 14"/>
          <p:cNvSpPr/>
          <p:nvPr/>
        </p:nvSpPr>
        <p:spPr>
          <a:xfrm>
            <a:off x="9085580" y="3622040"/>
            <a:ext cx="212173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real revenue analysed in the cube</a:t>
            </a:r>
            <a:endParaRPr lang="en-US" sz="1300" dirty="0"/>
          </a:p>
        </p:txBody>
      </p:sp>
      <p:sp>
        <p:nvSpPr>
          <p:cNvPr id="17" name="Text 15"/>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A90"/>
                </a:solidFill>
                <a:latin typeface="DM Sans" pitchFamily="34" charset="0"/>
                <a:ea typeface="DM Sans" pitchFamily="34" charset="-122"/>
                <a:cs typeface="DM Sans" pitchFamily="34" charset="-120"/>
              </a:rPr>
              <a:t>Dataset: Brazilian E-Commerce Public Dataset by Olist (Kaggle), 9 CSV files, about 1.55 million rows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D6"/>
                </a:solidFill>
                <a:latin typeface="DM Sans" pitchFamily="34" charset="0"/>
                <a:ea typeface="DM Sans" pitchFamily="34" charset="-122"/>
                <a:cs typeface="DM Sans" pitchFamily="34" charset="-120"/>
              </a:rPr>
              <a:t>TASK 1 AND 2</a:t>
            </a:r>
            <a:endParaRPr lang="en-US" sz="1200" dirty="0"/>
          </a:p>
        </p:txBody>
      </p:sp>
      <p:sp>
        <p:nvSpPr>
          <p:cNvPr id="3" name="Text 1"/>
          <p:cNvSpPr>
            <a:spLocks noGrp="1"/>
          </p:cNvSpPr>
          <p:nvPr>
            <p:ph type="title"/>
          </p:nvPr>
        </p:nvSpPr>
        <p:spPr>
          <a:xfrm>
            <a:off x="812800" y="1102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B45"/>
                </a:solidFill>
                <a:latin typeface="Poppins" pitchFamily="34" charset="0"/>
                <a:ea typeface="Poppins" pitchFamily="34" charset="-122"/>
                <a:cs typeface="Poppins" pitchFamily="34" charset="-120"/>
              </a:rPr>
              <a:t>Three sources of three different types</a:t>
            </a:r>
            <a:endParaRPr lang="en-US" sz="3200" dirty="0"/>
          </a:p>
        </p:txBody>
      </p:sp>
      <p:sp>
        <p:nvSpPr>
          <p:cNvPr id="4" name="Shape 2"/>
          <p:cNvSpPr/>
          <p:nvPr/>
        </p:nvSpPr>
        <p:spPr>
          <a:xfrm>
            <a:off x="815975" y="1877695"/>
            <a:ext cx="3380264" cy="4164330"/>
          </a:xfrm>
          <a:prstGeom prst="roundRect">
            <a:avLst>
              <a:gd name="adj" fmla="val 3663"/>
            </a:avLst>
          </a:prstGeom>
          <a:solidFill>
            <a:srgbClr val="FBFCFE"/>
          </a:solidFill>
          <a:ln w="6350">
            <a:solidFill>
              <a:srgbClr val="DCE3EE"/>
            </a:solidFill>
            <a:prstDash val="solid"/>
          </a:ln>
        </p:spPr>
      </p:sp>
      <p:pic>
        <p:nvPicPr>
          <p:cNvPr id="5" name="Image 0" descr="Database"/>
          <p:cNvPicPr>
            <a:picLocks noChangeAspect="1"/>
          </p:cNvPicPr>
          <p:nvPr/>
        </p:nvPicPr>
        <p:blipFill>
          <a:blip r:embed="rId3"/>
          <a:srcRect/>
          <a:stretch/>
        </p:blipFill>
        <p:spPr>
          <a:xfrm>
            <a:off x="1071880" y="2133600"/>
            <a:ext cx="406400" cy="406400"/>
          </a:xfrm>
          <a:prstGeom prst="rect">
            <a:avLst/>
          </a:prstGeom>
        </p:spPr>
      </p:pic>
      <p:sp>
        <p:nvSpPr>
          <p:cNvPr id="6" name="Text 3"/>
          <p:cNvSpPr/>
          <p:nvPr/>
        </p:nvSpPr>
        <p:spPr>
          <a:xfrm>
            <a:off x="1071880" y="2667000"/>
            <a:ext cx="2954507"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C2B45"/>
                </a:solidFill>
                <a:latin typeface="Poppins" pitchFamily="34" charset="0"/>
                <a:ea typeface="Poppins" pitchFamily="34" charset="-122"/>
                <a:cs typeface="Poppins" pitchFamily="34" charset="-120"/>
              </a:rPr>
              <a:t>S1 · Operational database</a:t>
            </a:r>
            <a:endParaRPr lang="en-US" sz="2000" dirty="0"/>
          </a:p>
        </p:txBody>
      </p:sp>
      <p:sp>
        <p:nvSpPr>
          <p:cNvPr id="7" name="Text 4"/>
          <p:cNvSpPr/>
          <p:nvPr/>
        </p:nvSpPr>
        <p:spPr>
          <a:xfrm>
            <a:off x="1071880" y="3403600"/>
            <a:ext cx="2954507" cy="131445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8"/>
                </a:solidFill>
                <a:latin typeface="DM Sans" pitchFamily="34" charset="0"/>
                <a:ea typeface="DM Sans" pitchFamily="34" charset="-122"/>
                <a:cs typeface="DM Sans" pitchFamily="34" charset="-120"/>
              </a:rPr>
              <a:t>SQL Server database Olist_OLTP_DB with 7 tables and primary and foreign keys: customers, sellers, products, orders, items, payments, reviews.</a:t>
            </a:r>
            <a:endParaRPr lang="en-US" sz="1400" dirty="0"/>
          </a:p>
        </p:txBody>
      </p:sp>
      <p:sp>
        <p:nvSpPr>
          <p:cNvPr id="8" name="Text 5"/>
          <p:cNvSpPr/>
          <p:nvPr/>
        </p:nvSpPr>
        <p:spPr>
          <a:xfrm>
            <a:off x="1071880" y="4819650"/>
            <a:ext cx="295450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C2B45"/>
                </a:solidFill>
                <a:latin typeface="DM Sans" pitchFamily="34" charset="0"/>
                <a:ea typeface="DM Sans" pitchFamily="34" charset="-122"/>
                <a:cs typeface="DM Sans" pitchFamily="34" charset="-120"/>
              </a:rPr>
              <a:t>550,688 rows</a:t>
            </a:r>
            <a:endParaRPr lang="en-US" sz="1500" dirty="0"/>
          </a:p>
        </p:txBody>
      </p:sp>
      <p:sp>
        <p:nvSpPr>
          <p:cNvPr id="9" name="Shape 6"/>
          <p:cNvSpPr/>
          <p:nvPr/>
        </p:nvSpPr>
        <p:spPr>
          <a:xfrm>
            <a:off x="4405789" y="1877695"/>
            <a:ext cx="3380343" cy="4164330"/>
          </a:xfrm>
          <a:prstGeom prst="roundRect">
            <a:avLst>
              <a:gd name="adj" fmla="val 3663"/>
            </a:avLst>
          </a:prstGeom>
          <a:solidFill>
            <a:srgbClr val="FBFCFE"/>
          </a:solidFill>
          <a:ln w="6350">
            <a:solidFill>
              <a:srgbClr val="DCE3EE"/>
            </a:solidFill>
            <a:prstDash val="solid"/>
          </a:ln>
        </p:spPr>
      </p:sp>
      <p:pic>
        <p:nvPicPr>
          <p:cNvPr id="10" name="Image 1" descr="Book"/>
          <p:cNvPicPr>
            <a:picLocks noChangeAspect="1"/>
          </p:cNvPicPr>
          <p:nvPr/>
        </p:nvPicPr>
        <p:blipFill>
          <a:blip r:embed="rId4"/>
          <a:srcRect/>
          <a:stretch/>
        </p:blipFill>
        <p:spPr>
          <a:xfrm>
            <a:off x="4661694" y="2133600"/>
            <a:ext cx="406400" cy="406400"/>
          </a:xfrm>
          <a:prstGeom prst="rect">
            <a:avLst/>
          </a:prstGeom>
        </p:spPr>
      </p:pic>
      <p:sp>
        <p:nvSpPr>
          <p:cNvPr id="11" name="Text 7"/>
          <p:cNvSpPr/>
          <p:nvPr/>
        </p:nvSpPr>
        <p:spPr>
          <a:xfrm>
            <a:off x="4661694" y="2667000"/>
            <a:ext cx="2954589"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C2B45"/>
                </a:solidFill>
                <a:latin typeface="Poppins" pitchFamily="34" charset="0"/>
                <a:ea typeface="Poppins" pitchFamily="34" charset="-122"/>
                <a:cs typeface="Poppins" pitchFamily="34" charset="-120"/>
              </a:rPr>
              <a:t>S2 · Reference CSV files</a:t>
            </a:r>
            <a:endParaRPr lang="en-US" sz="2000" dirty="0"/>
          </a:p>
        </p:txBody>
      </p:sp>
      <p:sp>
        <p:nvSpPr>
          <p:cNvPr id="12" name="Text 8"/>
          <p:cNvSpPr/>
          <p:nvPr/>
        </p:nvSpPr>
        <p:spPr>
          <a:xfrm>
            <a:off x="4661694" y="3403600"/>
            <a:ext cx="2954589" cy="105664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8"/>
                </a:solidFill>
                <a:latin typeface="DM Sans" pitchFamily="34" charset="0"/>
                <a:ea typeface="DM Sans" pitchFamily="34" charset="-122"/>
                <a:cs typeface="DM Sans" pitchFamily="34" charset="-120"/>
              </a:rPr>
              <a:t>Geolocation (latitude and longitude per zip prefix) and the Portuguese to English category translation, read as UTF-8.</a:t>
            </a:r>
            <a:endParaRPr lang="en-US" sz="1400" dirty="0"/>
          </a:p>
        </p:txBody>
      </p:sp>
      <p:sp>
        <p:nvSpPr>
          <p:cNvPr id="13" name="Text 9"/>
          <p:cNvSpPr/>
          <p:nvPr/>
        </p:nvSpPr>
        <p:spPr>
          <a:xfrm>
            <a:off x="4661694" y="4561841"/>
            <a:ext cx="295458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C2B45"/>
                </a:solidFill>
                <a:latin typeface="DM Sans" pitchFamily="34" charset="0"/>
                <a:ea typeface="DM Sans" pitchFamily="34" charset="-122"/>
                <a:cs typeface="DM Sans" pitchFamily="34" charset="-120"/>
              </a:rPr>
              <a:t>1,000,163 + 71 rows</a:t>
            </a:r>
            <a:endParaRPr lang="en-US" sz="1500" dirty="0"/>
          </a:p>
        </p:txBody>
      </p:sp>
      <p:sp>
        <p:nvSpPr>
          <p:cNvPr id="14" name="Shape 10"/>
          <p:cNvSpPr/>
          <p:nvPr/>
        </p:nvSpPr>
        <p:spPr>
          <a:xfrm>
            <a:off x="7995682" y="1877695"/>
            <a:ext cx="3380343" cy="4164330"/>
          </a:xfrm>
          <a:prstGeom prst="roundRect">
            <a:avLst>
              <a:gd name="adj" fmla="val 3663"/>
            </a:avLst>
          </a:prstGeom>
          <a:solidFill>
            <a:srgbClr val="FBFCFE"/>
          </a:solidFill>
          <a:ln w="6350">
            <a:solidFill>
              <a:srgbClr val="DCE3EE"/>
            </a:solidFill>
            <a:prstDash val="solid"/>
          </a:ln>
        </p:spPr>
      </p:sp>
      <p:pic>
        <p:nvPicPr>
          <p:cNvPr id="15" name="Image 2" descr="Globe"/>
          <p:cNvPicPr>
            <a:picLocks noChangeAspect="1"/>
          </p:cNvPicPr>
          <p:nvPr/>
        </p:nvPicPr>
        <p:blipFill>
          <a:blip r:embed="rId5"/>
          <a:srcRect/>
          <a:stretch/>
        </p:blipFill>
        <p:spPr>
          <a:xfrm>
            <a:off x="8251587" y="2133600"/>
            <a:ext cx="406400" cy="406400"/>
          </a:xfrm>
          <a:prstGeom prst="rect">
            <a:avLst/>
          </a:prstGeom>
        </p:spPr>
      </p:pic>
      <p:sp>
        <p:nvSpPr>
          <p:cNvPr id="16" name="Text 11"/>
          <p:cNvSpPr/>
          <p:nvPr/>
        </p:nvSpPr>
        <p:spPr>
          <a:xfrm>
            <a:off x="8251587" y="2667000"/>
            <a:ext cx="29545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C2B45"/>
                </a:solidFill>
                <a:latin typeface="Poppins" pitchFamily="34" charset="0"/>
                <a:ea typeface="Poppins" pitchFamily="34" charset="-122"/>
                <a:cs typeface="Poppins" pitchFamily="34" charset="-120"/>
              </a:rPr>
              <a:t>S3 · Holiday web API</a:t>
            </a:r>
            <a:endParaRPr lang="en-US" sz="2000" dirty="0"/>
          </a:p>
        </p:txBody>
      </p:sp>
      <p:sp>
        <p:nvSpPr>
          <p:cNvPr id="17" name="Text 12"/>
          <p:cNvSpPr/>
          <p:nvPr/>
        </p:nvSpPr>
        <p:spPr>
          <a:xfrm>
            <a:off x="8251587" y="3098800"/>
            <a:ext cx="2954589" cy="105664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8"/>
                </a:solidFill>
                <a:latin typeface="DM Sans" pitchFamily="34" charset="0"/>
                <a:ea typeface="DM Sans" pitchFamily="34" charset="-122"/>
                <a:cs typeface="DM Sans" pitchFamily="34" charset="-120"/>
              </a:rPr>
              <a:t>Nager.Date REST API returns Brazilian public holidays as JSON for 2016 to 2018, with a saved copy as fallback.</a:t>
            </a:r>
            <a:endParaRPr lang="en-US" sz="1400" dirty="0"/>
          </a:p>
        </p:txBody>
      </p:sp>
      <p:sp>
        <p:nvSpPr>
          <p:cNvPr id="18" name="Text 13"/>
          <p:cNvSpPr/>
          <p:nvPr/>
        </p:nvSpPr>
        <p:spPr>
          <a:xfrm>
            <a:off x="8251587" y="4257041"/>
            <a:ext cx="295458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C2B45"/>
                </a:solidFill>
                <a:latin typeface="DM Sans" pitchFamily="34" charset="0"/>
                <a:ea typeface="DM Sans" pitchFamily="34" charset="-122"/>
                <a:cs typeface="DM Sans" pitchFamily="34" charset="-120"/>
              </a:rPr>
              <a:t>42 holidays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D6"/>
                </a:solidFill>
                <a:latin typeface="DM Sans" pitchFamily="34" charset="0"/>
                <a:ea typeface="DM Sans" pitchFamily="34" charset="-122"/>
                <a:cs typeface="DM Sans" pitchFamily="34" charset="-120"/>
              </a:rPr>
              <a:t>TASK 3</a:t>
            </a:r>
            <a:endParaRPr lang="en-US" sz="1200" dirty="0"/>
          </a:p>
        </p:txBody>
      </p:sp>
      <p:sp>
        <p:nvSpPr>
          <p:cNvPr id="3" name="Text 1"/>
          <p:cNvSpPr>
            <a:spLocks noGrp="1"/>
          </p:cNvSpPr>
          <p:nvPr>
            <p:ph type="title"/>
          </p:nvPr>
        </p:nvSpPr>
        <p:spPr>
          <a:xfrm>
            <a:off x="812800" y="1102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B45"/>
                </a:solidFill>
                <a:latin typeface="Poppins" pitchFamily="34" charset="0"/>
                <a:ea typeface="Poppins" pitchFamily="34" charset="-122"/>
                <a:cs typeface="Poppins" pitchFamily="34" charset="-120"/>
              </a:rPr>
              <a:t>A four-layer architecture</a:t>
            </a:r>
            <a:endParaRPr lang="en-US" sz="3200" dirty="0"/>
          </a:p>
        </p:txBody>
      </p:sp>
      <p:sp>
        <p:nvSpPr>
          <p:cNvPr id="4" name="Shape 2"/>
          <p:cNvSpPr/>
          <p:nvPr/>
        </p:nvSpPr>
        <p:spPr>
          <a:xfrm>
            <a:off x="815975" y="1877695"/>
            <a:ext cx="2273300" cy="3610610"/>
          </a:xfrm>
          <a:prstGeom prst="roundRect">
            <a:avLst>
              <a:gd name="adj" fmla="val 5447"/>
            </a:avLst>
          </a:prstGeom>
          <a:solidFill>
            <a:srgbClr val="FBFCFE"/>
          </a:solidFill>
          <a:ln w="6350">
            <a:solidFill>
              <a:srgbClr val="DCE3EE"/>
            </a:solidFill>
            <a:prstDash val="solid"/>
          </a:ln>
        </p:spPr>
      </p:sp>
      <p:sp>
        <p:nvSpPr>
          <p:cNvPr id="5" name="Text 3"/>
          <p:cNvSpPr/>
          <p:nvPr/>
        </p:nvSpPr>
        <p:spPr>
          <a:xfrm>
            <a:off x="1021080" y="2082800"/>
            <a:ext cx="191898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9761C"/>
                </a:solidFill>
                <a:latin typeface="DM Sans" pitchFamily="34" charset="0"/>
                <a:ea typeface="DM Sans" pitchFamily="34" charset="-122"/>
                <a:cs typeface="DM Sans" pitchFamily="34" charset="-120"/>
              </a:rPr>
              <a:t>1 · SOURCE</a:t>
            </a:r>
            <a:endParaRPr lang="en-US" sz="1200" dirty="0"/>
          </a:p>
        </p:txBody>
      </p:sp>
      <p:sp>
        <p:nvSpPr>
          <p:cNvPr id="6" name="Text 4"/>
          <p:cNvSpPr/>
          <p:nvPr/>
        </p:nvSpPr>
        <p:spPr>
          <a:xfrm>
            <a:off x="1021080" y="2397761"/>
            <a:ext cx="19189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Olist_OLTP_DB</a:t>
            </a:r>
            <a:endParaRPr lang="en-US" sz="1400" dirty="0"/>
          </a:p>
        </p:txBody>
      </p:sp>
      <p:sp>
        <p:nvSpPr>
          <p:cNvPr id="7" name="Text 5"/>
          <p:cNvSpPr/>
          <p:nvPr/>
        </p:nvSpPr>
        <p:spPr>
          <a:xfrm>
            <a:off x="1021080" y="2748280"/>
            <a:ext cx="19189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CSV reference files</a:t>
            </a:r>
            <a:endParaRPr lang="en-US" sz="1400" dirty="0"/>
          </a:p>
        </p:txBody>
      </p:sp>
      <p:sp>
        <p:nvSpPr>
          <p:cNvPr id="8" name="Text 6"/>
          <p:cNvSpPr/>
          <p:nvPr/>
        </p:nvSpPr>
        <p:spPr>
          <a:xfrm>
            <a:off x="1021080" y="3098800"/>
            <a:ext cx="19189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Holiday REST API</a:t>
            </a:r>
            <a:endParaRPr lang="en-US" sz="1400" dirty="0"/>
          </a:p>
        </p:txBody>
      </p:sp>
      <p:pic>
        <p:nvPicPr>
          <p:cNvPr id="9" name="Image 0" descr="arrow-right"/>
          <p:cNvPicPr>
            <a:picLocks noChangeAspect="1"/>
          </p:cNvPicPr>
          <p:nvPr/>
        </p:nvPicPr>
        <p:blipFill>
          <a:blip r:embed="rId3"/>
          <a:srcRect/>
          <a:stretch/>
        </p:blipFill>
        <p:spPr>
          <a:xfrm>
            <a:off x="3194050" y="3581400"/>
            <a:ext cx="279400" cy="203200"/>
          </a:xfrm>
          <a:prstGeom prst="rect">
            <a:avLst/>
          </a:prstGeom>
        </p:spPr>
      </p:pic>
      <p:sp>
        <p:nvSpPr>
          <p:cNvPr id="10" name="Shape 7"/>
          <p:cNvSpPr/>
          <p:nvPr/>
        </p:nvSpPr>
        <p:spPr>
          <a:xfrm>
            <a:off x="3578225" y="1877695"/>
            <a:ext cx="2273300" cy="3610610"/>
          </a:xfrm>
          <a:prstGeom prst="roundRect">
            <a:avLst>
              <a:gd name="adj" fmla="val 5447"/>
            </a:avLst>
          </a:prstGeom>
          <a:solidFill>
            <a:srgbClr val="FBFCFE"/>
          </a:solidFill>
          <a:ln w="6350">
            <a:solidFill>
              <a:srgbClr val="DCE3EE"/>
            </a:solidFill>
            <a:prstDash val="solid"/>
          </a:ln>
        </p:spPr>
      </p:sp>
      <p:sp>
        <p:nvSpPr>
          <p:cNvPr id="11" name="Text 8"/>
          <p:cNvSpPr/>
          <p:nvPr/>
        </p:nvSpPr>
        <p:spPr>
          <a:xfrm>
            <a:off x="3783330" y="2082800"/>
            <a:ext cx="191898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0392B"/>
                </a:solidFill>
                <a:latin typeface="DM Sans" pitchFamily="34" charset="0"/>
                <a:ea typeface="DM Sans" pitchFamily="34" charset="-122"/>
                <a:cs typeface="DM Sans" pitchFamily="34" charset="-120"/>
              </a:rPr>
              <a:t>2 · INTEGRATION</a:t>
            </a:r>
            <a:endParaRPr lang="en-US" sz="1200" dirty="0"/>
          </a:p>
        </p:txBody>
      </p:sp>
      <p:sp>
        <p:nvSpPr>
          <p:cNvPr id="12" name="Text 9"/>
          <p:cNvSpPr/>
          <p:nvPr/>
        </p:nvSpPr>
        <p:spPr>
          <a:xfrm>
            <a:off x="3783330" y="2397761"/>
            <a:ext cx="19189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SSIS packages 00 to 03</a:t>
            </a:r>
            <a:endParaRPr lang="en-US" sz="1400" dirty="0"/>
          </a:p>
        </p:txBody>
      </p:sp>
      <p:sp>
        <p:nvSpPr>
          <p:cNvPr id="13" name="Text 10"/>
          <p:cNvSpPr/>
          <p:nvPr/>
        </p:nvSpPr>
        <p:spPr>
          <a:xfrm>
            <a:off x="3783330" y="2997200"/>
            <a:ext cx="19189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Extract, transform, load</a:t>
            </a:r>
            <a:endParaRPr lang="en-US" sz="1400" dirty="0"/>
          </a:p>
        </p:txBody>
      </p:sp>
      <p:sp>
        <p:nvSpPr>
          <p:cNvPr id="14" name="Text 11"/>
          <p:cNvSpPr/>
          <p:nvPr/>
        </p:nvSpPr>
        <p:spPr>
          <a:xfrm>
            <a:off x="3783330" y="3596641"/>
            <a:ext cx="19189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16 validation checks</a:t>
            </a:r>
            <a:endParaRPr lang="en-US" sz="1400" dirty="0"/>
          </a:p>
        </p:txBody>
      </p:sp>
      <p:pic>
        <p:nvPicPr>
          <p:cNvPr id="15" name="Image 1" descr="arrow-right"/>
          <p:cNvPicPr>
            <a:picLocks noChangeAspect="1"/>
          </p:cNvPicPr>
          <p:nvPr/>
        </p:nvPicPr>
        <p:blipFill>
          <a:blip r:embed="rId3"/>
          <a:srcRect/>
          <a:stretch/>
        </p:blipFill>
        <p:spPr>
          <a:xfrm>
            <a:off x="5956300" y="3581400"/>
            <a:ext cx="279400" cy="203200"/>
          </a:xfrm>
          <a:prstGeom prst="rect">
            <a:avLst/>
          </a:prstGeom>
        </p:spPr>
      </p:pic>
      <p:sp>
        <p:nvSpPr>
          <p:cNvPr id="16" name="Shape 12"/>
          <p:cNvSpPr/>
          <p:nvPr/>
        </p:nvSpPr>
        <p:spPr>
          <a:xfrm>
            <a:off x="6340475" y="1877695"/>
            <a:ext cx="2273300" cy="3610610"/>
          </a:xfrm>
          <a:prstGeom prst="roundRect">
            <a:avLst>
              <a:gd name="adj" fmla="val 5447"/>
            </a:avLst>
          </a:prstGeom>
          <a:solidFill>
            <a:srgbClr val="FBFCFE"/>
          </a:solidFill>
          <a:ln w="6350">
            <a:solidFill>
              <a:srgbClr val="DCE3EE"/>
            </a:solidFill>
            <a:prstDash val="solid"/>
          </a:ln>
        </p:spPr>
      </p:sp>
      <p:sp>
        <p:nvSpPr>
          <p:cNvPr id="17" name="Text 13"/>
          <p:cNvSpPr/>
          <p:nvPr/>
        </p:nvSpPr>
        <p:spPr>
          <a:xfrm>
            <a:off x="6545580" y="2082800"/>
            <a:ext cx="191898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FD6"/>
                </a:solidFill>
                <a:latin typeface="DM Sans" pitchFamily="34" charset="0"/>
                <a:ea typeface="DM Sans" pitchFamily="34" charset="-122"/>
                <a:cs typeface="DM Sans" pitchFamily="34" charset="-120"/>
              </a:rPr>
              <a:t>3 · STORAGE</a:t>
            </a:r>
            <a:endParaRPr lang="en-US" sz="1200" dirty="0"/>
          </a:p>
        </p:txBody>
      </p:sp>
      <p:sp>
        <p:nvSpPr>
          <p:cNvPr id="18" name="Text 14"/>
          <p:cNvSpPr/>
          <p:nvPr/>
        </p:nvSpPr>
        <p:spPr>
          <a:xfrm>
            <a:off x="6545580" y="2397761"/>
            <a:ext cx="19189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Staging (stg)</a:t>
            </a:r>
            <a:endParaRPr lang="en-US" sz="1400" dirty="0"/>
          </a:p>
        </p:txBody>
      </p:sp>
      <p:sp>
        <p:nvSpPr>
          <p:cNvPr id="19" name="Text 15"/>
          <p:cNvSpPr/>
          <p:nvPr/>
        </p:nvSpPr>
        <p:spPr>
          <a:xfrm>
            <a:off x="6545580" y="2748280"/>
            <a:ext cx="19189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Warehouse (dw)</a:t>
            </a:r>
            <a:endParaRPr lang="en-US" sz="1400" dirty="0"/>
          </a:p>
        </p:txBody>
      </p:sp>
      <p:sp>
        <p:nvSpPr>
          <p:cNvPr id="20" name="Text 16"/>
          <p:cNvSpPr/>
          <p:nvPr/>
        </p:nvSpPr>
        <p:spPr>
          <a:xfrm>
            <a:off x="6545580" y="3098800"/>
            <a:ext cx="19189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Data marts (mart)</a:t>
            </a:r>
            <a:endParaRPr lang="en-US" sz="1400" dirty="0"/>
          </a:p>
        </p:txBody>
      </p:sp>
      <p:sp>
        <p:nvSpPr>
          <p:cNvPr id="21" name="Text 17"/>
          <p:cNvSpPr/>
          <p:nvPr/>
        </p:nvSpPr>
        <p:spPr>
          <a:xfrm>
            <a:off x="6545580" y="3449320"/>
            <a:ext cx="19189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ETL log (etl)</a:t>
            </a:r>
            <a:endParaRPr lang="en-US" sz="1400" dirty="0"/>
          </a:p>
        </p:txBody>
      </p:sp>
      <p:pic>
        <p:nvPicPr>
          <p:cNvPr id="22" name="Image 2" descr="arrow-right"/>
          <p:cNvPicPr>
            <a:picLocks noChangeAspect="1"/>
          </p:cNvPicPr>
          <p:nvPr/>
        </p:nvPicPr>
        <p:blipFill>
          <a:blip r:embed="rId3"/>
          <a:srcRect/>
          <a:stretch/>
        </p:blipFill>
        <p:spPr>
          <a:xfrm>
            <a:off x="8718550" y="3581400"/>
            <a:ext cx="279400" cy="203200"/>
          </a:xfrm>
          <a:prstGeom prst="rect">
            <a:avLst/>
          </a:prstGeom>
        </p:spPr>
      </p:pic>
      <p:sp>
        <p:nvSpPr>
          <p:cNvPr id="23" name="Shape 18"/>
          <p:cNvSpPr/>
          <p:nvPr/>
        </p:nvSpPr>
        <p:spPr>
          <a:xfrm>
            <a:off x="9102725" y="1877695"/>
            <a:ext cx="2273300" cy="3610610"/>
          </a:xfrm>
          <a:prstGeom prst="roundRect">
            <a:avLst>
              <a:gd name="adj" fmla="val 5447"/>
            </a:avLst>
          </a:prstGeom>
          <a:solidFill>
            <a:srgbClr val="FBFCFE"/>
          </a:solidFill>
          <a:ln w="6350">
            <a:solidFill>
              <a:srgbClr val="DCE3EE"/>
            </a:solidFill>
            <a:prstDash val="solid"/>
          </a:ln>
        </p:spPr>
      </p:sp>
      <p:sp>
        <p:nvSpPr>
          <p:cNvPr id="24" name="Text 19"/>
          <p:cNvSpPr/>
          <p:nvPr/>
        </p:nvSpPr>
        <p:spPr>
          <a:xfrm>
            <a:off x="9307830" y="2082800"/>
            <a:ext cx="191898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E8570"/>
                </a:solidFill>
                <a:latin typeface="DM Sans" pitchFamily="34" charset="0"/>
                <a:ea typeface="DM Sans" pitchFamily="34" charset="-122"/>
                <a:cs typeface="DM Sans" pitchFamily="34" charset="-120"/>
              </a:rPr>
              <a:t>4 · PRESENTATION</a:t>
            </a:r>
            <a:endParaRPr lang="en-US" sz="1200" dirty="0"/>
          </a:p>
        </p:txBody>
      </p:sp>
      <p:sp>
        <p:nvSpPr>
          <p:cNvPr id="25" name="Text 20"/>
          <p:cNvSpPr/>
          <p:nvPr/>
        </p:nvSpPr>
        <p:spPr>
          <a:xfrm>
            <a:off x="9307830" y="2397761"/>
            <a:ext cx="19189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SSAS cube Olist_Cube</a:t>
            </a:r>
            <a:endParaRPr lang="en-US" sz="1400" dirty="0"/>
          </a:p>
        </p:txBody>
      </p:sp>
      <p:sp>
        <p:nvSpPr>
          <p:cNvPr id="26" name="Text 21"/>
          <p:cNvSpPr/>
          <p:nvPr/>
        </p:nvSpPr>
        <p:spPr>
          <a:xfrm>
            <a:off x="9307830" y="2997200"/>
            <a:ext cx="19189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Power BI Desktop</a:t>
            </a:r>
            <a:endParaRPr lang="en-US" sz="1400" dirty="0"/>
          </a:p>
        </p:txBody>
      </p:sp>
      <p:sp>
        <p:nvSpPr>
          <p:cNvPr id="27" name="Text 22"/>
          <p:cNvSpPr/>
          <p:nvPr/>
        </p:nvSpPr>
        <p:spPr>
          <a:xfrm>
            <a:off x="9307830" y="3347720"/>
            <a:ext cx="19189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324A"/>
                </a:solidFill>
                <a:latin typeface="DM Sans" pitchFamily="34" charset="0"/>
                <a:ea typeface="DM Sans" pitchFamily="34" charset="-122"/>
                <a:cs typeface="DM Sans" pitchFamily="34" charset="-120"/>
              </a:rPr>
              <a:t>3 dashboard pages</a:t>
            </a:r>
            <a:endParaRPr lang="en-US" sz="1400" dirty="0"/>
          </a:p>
        </p:txBody>
      </p:sp>
      <p:sp>
        <p:nvSpPr>
          <p:cNvPr id="28" name="Text 23"/>
          <p:cNvSpPr/>
          <p:nvPr/>
        </p:nvSpPr>
        <p:spPr>
          <a:xfrm>
            <a:off x="812800" y="579628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All storage lives in one SQL Server database, Olist_DW, separated by four schemas.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D6"/>
                </a:solidFill>
                <a:latin typeface="DM Sans" pitchFamily="34" charset="0"/>
                <a:ea typeface="DM Sans" pitchFamily="34" charset="-122"/>
                <a:cs typeface="DM Sans" pitchFamily="34" charset="-120"/>
              </a:rPr>
              <a:t>TASK 2 · DATA PROFILING</a:t>
            </a:r>
            <a:endParaRPr lang="en-US" sz="1200" dirty="0"/>
          </a:p>
        </p:txBody>
      </p:sp>
      <p:sp>
        <p:nvSpPr>
          <p:cNvPr id="3" name="Text 1"/>
          <p:cNvSpPr>
            <a:spLocks noGrp="1"/>
          </p:cNvSpPr>
          <p:nvPr>
            <p:ph type="title"/>
          </p:nvPr>
        </p:nvSpPr>
        <p:spPr>
          <a:xfrm>
            <a:off x="812800" y="1102361"/>
            <a:ext cx="10883392" cy="9601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B45"/>
                </a:solidFill>
                <a:latin typeface="Poppins" pitchFamily="34" charset="0"/>
                <a:ea typeface="Poppins" pitchFamily="34" charset="-122"/>
                <a:cs typeface="Poppins" pitchFamily="34" charset="-120"/>
              </a:rPr>
              <a:t>Quality problems found, and how we handled them</a:t>
            </a:r>
            <a:endParaRPr lang="en-US" sz="3200" dirty="0"/>
          </a:p>
        </p:txBody>
      </p:sp>
      <p:sp>
        <p:nvSpPr>
          <p:cNvPr id="4" name="Shape 2"/>
          <p:cNvSpPr/>
          <p:nvPr/>
        </p:nvSpPr>
        <p:spPr>
          <a:xfrm>
            <a:off x="812800" y="2291082"/>
            <a:ext cx="10566400" cy="2513330"/>
          </a:xfrm>
          <a:prstGeom prst="roundRect">
            <a:avLst>
              <a:gd name="adj" fmla="val 4042"/>
            </a:avLst>
          </a:prstGeom>
          <a:solidFill>
            <a:srgbClr val="FBFCFE"/>
          </a:solidFill>
          <a:ln/>
        </p:spPr>
      </p:sp>
      <p:sp>
        <p:nvSpPr>
          <p:cNvPr id="5" name="Shape 3"/>
          <p:cNvSpPr/>
          <p:nvPr/>
        </p:nvSpPr>
        <p:spPr>
          <a:xfrm>
            <a:off x="812800" y="2291082"/>
            <a:ext cx="10566400" cy="2513330"/>
          </a:xfrm>
          <a:custGeom>
            <a:avLst/>
            <a:gdLst/>
            <a:ahLst/>
            <a:cxnLst/>
            <a:rect l="l" t="t" r="r" b="b"/>
            <a:pathLst>
              <a:path w="10566400" h="2513330">
                <a:moveTo>
                  <a:pt x="10464800" y="0"/>
                </a:moveTo>
                <a:lnTo>
                  <a:pt x="10464800" y="0"/>
                </a:lnTo>
                <a:arcTo wR="101600" hR="101600" stAng="16200000" swAng="5400000"/>
                <a:lnTo>
                  <a:pt x="10566400" y="2411730"/>
                </a:lnTo>
                <a:arcTo wR="101600" hR="101600" stAng="0" swAng="5400000"/>
                <a:lnTo>
                  <a:pt x="101600" y="2513330"/>
                </a:lnTo>
                <a:arcTo wR="101600" hR="101600" stAng="5400000" swAng="5400000"/>
                <a:lnTo>
                  <a:pt x="0" y="2411730"/>
                </a:lnTo>
                <a:arcTo wR="101600" hR="95250" stAng="10800000" swAng="-5400000"/>
                <a:lnTo>
                  <a:pt x="10464800" y="2506980"/>
                </a:lnTo>
                <a:arcTo wR="95250" hR="95250" stAng="5400000" swAng="-5400000"/>
                <a:lnTo>
                  <a:pt x="10560050" y="101600"/>
                </a:lnTo>
                <a:arcTo wR="95250" hR="101600" stAng="0" swAng="-5400000"/>
                <a:close/>
              </a:path>
            </a:pathLst>
          </a:custGeom>
          <a:solidFill>
            <a:srgbClr val="DCE3EE"/>
          </a:solidFill>
          <a:ln/>
        </p:spPr>
      </p:sp>
      <p:sp>
        <p:nvSpPr>
          <p:cNvPr id="6" name="Shape 4"/>
          <p:cNvSpPr/>
          <p:nvPr/>
        </p:nvSpPr>
        <p:spPr>
          <a:xfrm>
            <a:off x="812800" y="2291082"/>
            <a:ext cx="10566400" cy="2513330"/>
          </a:xfrm>
          <a:custGeom>
            <a:avLst/>
            <a:gdLst/>
            <a:ahLst/>
            <a:cxnLst/>
            <a:rect l="l" t="t" r="r" b="b"/>
            <a:pathLst>
              <a:path w="10566400" h="2513330">
                <a:moveTo>
                  <a:pt x="101600" y="2513330"/>
                </a:moveTo>
                <a:lnTo>
                  <a:pt x="101600" y="2513330"/>
                </a:lnTo>
                <a:arcTo wR="101600" hR="101600" stAng="5400000" swAng="5400000"/>
                <a:lnTo>
                  <a:pt x="0" y="101600"/>
                </a:lnTo>
                <a:arcTo wR="101600" hR="101600" stAng="10800000" swAng="5400000"/>
                <a:lnTo>
                  <a:pt x="10464800" y="0"/>
                </a:lnTo>
                <a:arcTo wR="101600" hR="101600" stAng="16200000" swAng="5400000"/>
                <a:lnTo>
                  <a:pt x="10566400" y="101600"/>
                </a:lnTo>
                <a:arcTo wR="101600" hR="91440" stAng="0" swAng="-5400000"/>
                <a:lnTo>
                  <a:pt x="101600" y="10160"/>
                </a:lnTo>
                <a:arcTo wR="91440" hR="91440" stAng="16200000" swAng="-5400000"/>
                <a:lnTo>
                  <a:pt x="10160" y="2411730"/>
                </a:lnTo>
                <a:arcTo wR="91440" hR="1016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301242"/>
          <a:ext cx="10551160" cy="2498090"/>
        </p:xfrm>
        <a:graphic>
          <a:graphicData uri="http://schemas.openxmlformats.org/drawingml/2006/table">
            <a:tbl>
              <a:tblPr/>
              <a:tblGrid>
                <a:gridCol w="3587394">
                  <a:extLst>
                    <a:ext uri="{9D8B030D-6E8A-4147-A177-3AD203B41FA5}">
                      <a16:colId xmlns:a16="http://schemas.microsoft.com/office/drawing/2014/main" val="20000"/>
                    </a:ext>
                  </a:extLst>
                </a:gridCol>
                <a:gridCol w="3165348">
                  <a:extLst>
                    <a:ext uri="{9D8B030D-6E8A-4147-A177-3AD203B41FA5}">
                      <a16:colId xmlns:a16="http://schemas.microsoft.com/office/drawing/2014/main" val="20001"/>
                    </a:ext>
                  </a:extLst>
                </a:gridCol>
                <a:gridCol w="3798418">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1F4F9"/>
                          </a:solidFill>
                          <a:latin typeface="DM Sans" pitchFamily="34" charset="0"/>
                          <a:ea typeface="DM Sans" pitchFamily="34" charset="-122"/>
                          <a:cs typeface="DM Sans" pitchFamily="34" charset="-120"/>
                        </a:rPr>
                        <a:t>Finding</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1A263A"/>
                      </a:solidFill>
                      <a:prstDash val="solid"/>
                      <a:round/>
                      <a:headEnd type="none" w="med" len="med"/>
                      <a:tailEnd type="none" w="med" len="med"/>
                    </a:lnR>
                    <a:lnT w="0" cap="flat" cmpd="sng" algn="ctr">
                      <a:noFill/>
                    </a:lnT>
                    <a:lnB w="12700" cap="flat" cmpd="sng" algn="ctr">
                      <a:solidFill>
                        <a:srgbClr val="1A263A"/>
                      </a:solidFill>
                      <a:prstDash val="solid"/>
                      <a:round/>
                      <a:headEnd type="none" w="med" len="med"/>
                      <a:tailEnd type="none" w="med" len="med"/>
                    </a:lnB>
                    <a:solidFill>
                      <a:srgbClr val="1C2B45"/>
                    </a:solidFill>
                  </a:tcPr>
                </a:tc>
                <a:tc>
                  <a:txBody>
                    <a:bodyPr/>
                    <a:lstStyle/>
                    <a:p>
                      <a:pPr marL="0" indent="0">
                        <a:lnSpc>
                          <a:spcPts val="1820"/>
                        </a:lnSpc>
                        <a:buNone/>
                      </a:pPr>
                      <a:r>
                        <a:rPr lang="en-US" sz="1300" b="1" dirty="0">
                          <a:solidFill>
                            <a:srgbClr val="F1F4F9"/>
                          </a:solidFill>
                          <a:latin typeface="DM Sans" pitchFamily="34" charset="0"/>
                          <a:ea typeface="DM Sans" pitchFamily="34" charset="-122"/>
                          <a:cs typeface="DM Sans" pitchFamily="34" charset="-120"/>
                        </a:rPr>
                        <a:t>Evidence</a:t>
                      </a:r>
                      <a:endParaRPr lang="en-US" sz="1300" dirty="0">
                        <a:latin typeface="DM Sans" charset="0"/>
                        <a:ea typeface="DM Sans" charset="0"/>
                        <a:cs typeface="DM Sans" charset="0"/>
                      </a:endParaRPr>
                    </a:p>
                  </a:txBody>
                  <a:tcPr marL="57785" marR="57785" marT="57785" marB="57785">
                    <a:lnL w="12700" cap="flat" cmpd="sng" algn="ctr">
                      <a:solidFill>
                        <a:srgbClr val="1A263A"/>
                      </a:solidFill>
                      <a:prstDash val="solid"/>
                      <a:round/>
                      <a:headEnd type="none" w="med" len="med"/>
                      <a:tailEnd type="none" w="med" len="med"/>
                    </a:lnL>
                    <a:lnR w="12700" cap="flat" cmpd="sng" algn="ctr">
                      <a:solidFill>
                        <a:srgbClr val="1A263A"/>
                      </a:solidFill>
                      <a:prstDash val="solid"/>
                      <a:round/>
                      <a:headEnd type="none" w="med" len="med"/>
                      <a:tailEnd type="none" w="med" len="med"/>
                    </a:lnR>
                    <a:lnT w="0" cap="flat" cmpd="sng" algn="ctr">
                      <a:noFill/>
                    </a:lnT>
                    <a:lnB w="12700" cap="flat" cmpd="sng" algn="ctr">
                      <a:solidFill>
                        <a:srgbClr val="1A263A"/>
                      </a:solidFill>
                      <a:prstDash val="solid"/>
                      <a:round/>
                      <a:headEnd type="none" w="med" len="med"/>
                      <a:tailEnd type="none" w="med" len="med"/>
                    </a:lnB>
                    <a:solidFill>
                      <a:srgbClr val="1C2B45"/>
                    </a:solidFill>
                  </a:tcPr>
                </a:tc>
                <a:tc>
                  <a:txBody>
                    <a:bodyPr/>
                    <a:lstStyle/>
                    <a:p>
                      <a:pPr marL="0" indent="0">
                        <a:lnSpc>
                          <a:spcPts val="1820"/>
                        </a:lnSpc>
                        <a:buNone/>
                      </a:pPr>
                      <a:r>
                        <a:rPr lang="en-US" sz="1300" b="1" dirty="0">
                          <a:solidFill>
                            <a:srgbClr val="F1F4F9"/>
                          </a:solidFill>
                          <a:latin typeface="DM Sans" pitchFamily="34" charset="0"/>
                          <a:ea typeface="DM Sans" pitchFamily="34" charset="-122"/>
                          <a:cs typeface="DM Sans" pitchFamily="34" charset="-120"/>
                        </a:rPr>
                        <a:t>Handling in the ETL</a:t>
                      </a:r>
                      <a:endParaRPr lang="en-US" sz="1300" dirty="0">
                        <a:latin typeface="DM Sans" charset="0"/>
                        <a:ea typeface="DM Sans" charset="0"/>
                        <a:cs typeface="DM Sans" charset="0"/>
                      </a:endParaRPr>
                    </a:p>
                  </a:txBody>
                  <a:tcPr marL="57785" marR="57785" marT="57785" marB="57785">
                    <a:lnL w="12700" cap="flat" cmpd="sng" algn="ctr">
                      <a:solidFill>
                        <a:srgbClr val="1A263A"/>
                      </a:solidFill>
                      <a:prstDash val="solid"/>
                      <a:round/>
                      <a:headEnd type="none" w="med" len="med"/>
                      <a:tailEnd type="none" w="med" len="med"/>
                    </a:lnL>
                    <a:lnR w="12700" cap="flat" cmpd="sng" algn="ctr">
                      <a:solidFill>
                        <a:srgbClr val="1A263A"/>
                      </a:solidFill>
                      <a:prstDash val="solid"/>
                      <a:round/>
                      <a:headEnd type="none" w="med" len="med"/>
                      <a:tailEnd type="none" w="med" len="med"/>
                    </a:lnR>
                    <a:lnT w="0" cap="flat" cmpd="sng" algn="ctr">
                      <a:noFill/>
                    </a:lnT>
                    <a:lnB w="12700" cap="flat" cmpd="sng" algn="ctr">
                      <a:solidFill>
                        <a:srgbClr val="1A263A"/>
                      </a:solidFill>
                      <a:prstDash val="solid"/>
                      <a:round/>
                      <a:headEnd type="none" w="med" len="med"/>
                      <a:tailEnd type="none" w="med" len="med"/>
                    </a:lnB>
                    <a:solidFill>
                      <a:srgbClr val="1C2B45"/>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One person, many customer IDs</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C8C9CA"/>
                      </a:solidFill>
                      <a:prstDash val="solid"/>
                      <a:round/>
                      <a:headEnd type="none" w="med" len="med"/>
                      <a:tailEnd type="none" w="med" len="med"/>
                    </a:lnR>
                    <a:lnT w="12700" cap="flat" cmpd="sng" algn="ctr">
                      <a:solidFill>
                        <a:srgbClr val="1A263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99,441 rows, 96,096 real customers</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1A263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One customer per customer_unique_id</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1A263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Orders never delivered</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2,965 without a delivery date</a:t>
                      </a:r>
                      <a:endParaRPr lang="en-US" sz="1300" dirty="0">
                        <a:latin typeface="DM Sans" charset="0"/>
                        <a:ea typeface="DM Sans" charset="0"/>
                        <a:cs typeface="DM Sans" charset="0"/>
                      </a:endParaRPr>
                    </a:p>
                  </a:txBody>
                  <a:tcPr marL="57785" marR="57785" marT="57785" marB="57785">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Delivery measures left empty</a:t>
                      </a:r>
                      <a:endParaRPr lang="en-US" sz="1300" dirty="0">
                        <a:latin typeface="DM Sans" charset="0"/>
                        <a:ea typeface="DM Sans" charset="0"/>
                        <a:cs typeface="DM Sans" charset="0"/>
                      </a:endParaRPr>
                    </a:p>
                  </a:txBody>
                  <a:tcPr marL="57785" marR="57785" marT="57785" marB="57785">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Products without a category</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C8C9CA"/>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610 products</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Category set to Unknown</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Several reviews per order</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99,224 reviews, 98,673 orders</a:t>
                      </a:r>
                      <a:endParaRPr lang="en-US" sz="1300" dirty="0">
                        <a:latin typeface="DM Sans" charset="0"/>
                        <a:ea typeface="DM Sans" charset="0"/>
                        <a:cs typeface="DM Sans" charset="0"/>
                      </a:endParaRPr>
                    </a:p>
                  </a:txBody>
                  <a:tcPr marL="57785" marR="57785" marT="57785" marB="57785">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Keep the latest review</a:t>
                      </a:r>
                      <a:endParaRPr lang="en-US" sz="1300" dirty="0">
                        <a:latin typeface="DM Sans" charset="0"/>
                        <a:ea typeface="DM Sans" charset="0"/>
                        <a:cs typeface="DM Sans" charset="0"/>
                      </a:endParaRPr>
                    </a:p>
                  </a:txBody>
                  <a:tcPr marL="57785" marR="57785" marT="57785" marB="57785">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Geolocation points outside Brazil</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C8C9CA"/>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42 points</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Removed, then averaged per zip</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State-only holidays</a:t>
                      </a:r>
                      <a:endParaRPr lang="en-US" sz="1300" dirty="0">
                        <a:latin typeface="DM Sans" charset="0"/>
                        <a:ea typeface="DM Sans" charset="0"/>
                        <a:cs typeface="DM Sans" charset="0"/>
                      </a:endParaRPr>
                    </a:p>
                  </a:txBody>
                  <a:tcPr marL="57785" marR="57785" marT="57785" marB="57785">
                    <a:lnL w="0" cap="flat" cmpd="sng" algn="ctr">
                      <a:noFill/>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3 of 42 not nationwide</a:t>
                      </a:r>
                      <a:endParaRPr lang="en-US" sz="1300" dirty="0">
                        <a:latin typeface="DM Sans" charset="0"/>
                        <a:ea typeface="DM Sans" charset="0"/>
                        <a:cs typeface="DM Sans" charset="0"/>
                      </a:endParaRPr>
                    </a:p>
                  </a:txBody>
                  <a:tcPr marL="57785" marR="57785" marT="57785" marB="57785">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Flag national holidays only</a:t>
                      </a:r>
                      <a:endParaRPr lang="en-US" sz="1300" dirty="0">
                        <a:latin typeface="DM Sans" charset="0"/>
                        <a:ea typeface="DM Sans" charset="0"/>
                        <a:cs typeface="DM Sans" charset="0"/>
                      </a:endParaRPr>
                    </a:p>
                  </a:txBody>
                  <a:tcPr marL="57785" marR="57785" marT="57785" marB="57785">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812800" y="812800"/>
            <a:ext cx="392430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D6"/>
                </a:solidFill>
                <a:latin typeface="DM Sans" pitchFamily="34" charset="0"/>
                <a:ea typeface="DM Sans" pitchFamily="34" charset="-122"/>
                <a:cs typeface="DM Sans" pitchFamily="34" charset="-120"/>
              </a:rPr>
              <a:t>TASK 4</a:t>
            </a:r>
            <a:endParaRPr lang="en-US" sz="1200" dirty="0"/>
          </a:p>
        </p:txBody>
      </p:sp>
      <p:sp>
        <p:nvSpPr>
          <p:cNvPr id="3" name="Text 1"/>
          <p:cNvSpPr>
            <a:spLocks noGrp="1"/>
          </p:cNvSpPr>
          <p:nvPr>
            <p:ph type="title"/>
          </p:nvPr>
        </p:nvSpPr>
        <p:spPr>
          <a:xfrm>
            <a:off x="812800" y="1203961"/>
            <a:ext cx="3924300"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C2B45"/>
                </a:solidFill>
                <a:latin typeface="Poppins" pitchFamily="34" charset="0"/>
                <a:ea typeface="Poppins" pitchFamily="34" charset="-122"/>
                <a:cs typeface="Poppins" pitchFamily="34" charset="-120"/>
              </a:rPr>
              <a:t>Fact constellation schema</a:t>
            </a:r>
            <a:endParaRPr lang="en-US" sz="3200" dirty="0"/>
          </a:p>
        </p:txBody>
      </p:sp>
      <p:sp>
        <p:nvSpPr>
          <p:cNvPr id="4" name="Shape 2"/>
          <p:cNvSpPr/>
          <p:nvPr/>
        </p:nvSpPr>
        <p:spPr>
          <a:xfrm>
            <a:off x="815975" y="2279014"/>
            <a:ext cx="3803650" cy="885190"/>
          </a:xfrm>
          <a:prstGeom prst="roundRect">
            <a:avLst>
              <a:gd name="adj" fmla="val 11119"/>
            </a:avLst>
          </a:prstGeom>
          <a:solidFill>
            <a:srgbClr val="FBFCFE"/>
          </a:solidFill>
          <a:ln w="6350">
            <a:solidFill>
              <a:srgbClr val="DCE3EE"/>
            </a:solidFill>
            <a:prstDash val="solid"/>
          </a:ln>
        </p:spPr>
      </p:sp>
      <p:sp>
        <p:nvSpPr>
          <p:cNvPr id="5" name="Text 3"/>
          <p:cNvSpPr/>
          <p:nvPr/>
        </p:nvSpPr>
        <p:spPr>
          <a:xfrm>
            <a:off x="995680" y="2458721"/>
            <a:ext cx="354756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C2B45"/>
                </a:solidFill>
                <a:latin typeface="DM Sans" pitchFamily="34" charset="0"/>
                <a:ea typeface="DM Sans" pitchFamily="34" charset="-122"/>
                <a:cs typeface="DM Sans" pitchFamily="34" charset="-120"/>
              </a:rPr>
              <a:t>Fact_Sales</a:t>
            </a:r>
            <a:endParaRPr lang="en-US" sz="1600" dirty="0"/>
          </a:p>
        </p:txBody>
      </p:sp>
      <p:sp>
        <p:nvSpPr>
          <p:cNvPr id="6" name="Text 4"/>
          <p:cNvSpPr/>
          <p:nvPr/>
        </p:nvSpPr>
        <p:spPr>
          <a:xfrm>
            <a:off x="995680" y="2753361"/>
            <a:ext cx="354756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One row per order item · 112,650 rows</a:t>
            </a:r>
            <a:endParaRPr lang="en-US" sz="1300" dirty="0"/>
          </a:p>
        </p:txBody>
      </p:sp>
      <p:sp>
        <p:nvSpPr>
          <p:cNvPr id="7" name="Shape 5"/>
          <p:cNvSpPr/>
          <p:nvPr/>
        </p:nvSpPr>
        <p:spPr>
          <a:xfrm>
            <a:off x="815975" y="3348357"/>
            <a:ext cx="3803650" cy="885190"/>
          </a:xfrm>
          <a:prstGeom prst="roundRect">
            <a:avLst>
              <a:gd name="adj" fmla="val 11119"/>
            </a:avLst>
          </a:prstGeom>
          <a:solidFill>
            <a:srgbClr val="FBFCFE"/>
          </a:solidFill>
          <a:ln w="6350">
            <a:solidFill>
              <a:srgbClr val="DCE3EE"/>
            </a:solidFill>
            <a:prstDash val="solid"/>
          </a:ln>
        </p:spPr>
      </p:sp>
      <p:sp>
        <p:nvSpPr>
          <p:cNvPr id="8" name="Text 6"/>
          <p:cNvSpPr/>
          <p:nvPr/>
        </p:nvSpPr>
        <p:spPr>
          <a:xfrm>
            <a:off x="995680" y="3528061"/>
            <a:ext cx="354756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C2B45"/>
                </a:solidFill>
                <a:latin typeface="DM Sans" pitchFamily="34" charset="0"/>
                <a:ea typeface="DM Sans" pitchFamily="34" charset="-122"/>
                <a:cs typeface="DM Sans" pitchFamily="34" charset="-120"/>
              </a:rPr>
              <a:t>Fact_OrderFulfilment</a:t>
            </a:r>
            <a:endParaRPr lang="en-US" sz="1600" dirty="0"/>
          </a:p>
        </p:txBody>
      </p:sp>
      <p:sp>
        <p:nvSpPr>
          <p:cNvPr id="9" name="Text 7"/>
          <p:cNvSpPr/>
          <p:nvPr/>
        </p:nvSpPr>
        <p:spPr>
          <a:xfrm>
            <a:off x="995680" y="3822700"/>
            <a:ext cx="354756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One row per order · 99,441 rows</a:t>
            </a:r>
            <a:endParaRPr lang="en-US" sz="1300" dirty="0"/>
          </a:p>
        </p:txBody>
      </p:sp>
      <p:sp>
        <p:nvSpPr>
          <p:cNvPr id="10" name="Text 8"/>
          <p:cNvSpPr/>
          <p:nvPr/>
        </p:nvSpPr>
        <p:spPr>
          <a:xfrm>
            <a:off x="812800" y="4414521"/>
            <a:ext cx="3924300"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8"/>
                </a:solidFill>
                <a:latin typeface="DM Sans" pitchFamily="34" charset="0"/>
                <a:ea typeface="DM Sans" pitchFamily="34" charset="-122"/>
                <a:cs typeface="DM Sans" pitchFamily="34" charset="-120"/>
              </a:rPr>
              <a:t>7 shared dimensions with surrogate keys and an Unknown member. Date plays 3 roles; Location plays 2 (customer and seller).</a:t>
            </a:r>
            <a:endParaRPr lang="en-US" sz="1300" dirty="0"/>
          </a:p>
        </p:txBody>
      </p:sp>
      <p:sp>
        <p:nvSpPr>
          <p:cNvPr id="11" name="Shape 9"/>
          <p:cNvSpPr/>
          <p:nvPr/>
        </p:nvSpPr>
        <p:spPr>
          <a:xfrm>
            <a:off x="4981575" y="815975"/>
            <a:ext cx="6394450" cy="4512310"/>
          </a:xfrm>
          <a:prstGeom prst="roundRect">
            <a:avLst>
              <a:gd name="adj" fmla="val 2744"/>
            </a:avLst>
          </a:prstGeom>
          <a:solidFill>
            <a:srgbClr val="FFFFFF"/>
          </a:solidFill>
          <a:ln w="6350">
            <a:solidFill>
              <a:srgbClr val="DCE3EE"/>
            </a:solidFill>
            <a:prstDash val="solid"/>
          </a:ln>
        </p:spPr>
      </p:sp>
      <p:pic>
        <p:nvPicPr>
          <p:cNvPr id="12" name="Image 0" descr="Schema diagram: Fact_Sales and Fact_OrderFulfilment sharing Dim_Date, Dim_Customer, Dim_Location, Dim_Product, Dim_Seller, Dim_OrderStatus and Dim_PaymentType"/>
          <p:cNvPicPr>
            <a:picLocks noChangeAspect="1"/>
          </p:cNvPicPr>
          <p:nvPr/>
        </p:nvPicPr>
        <p:blipFill>
          <a:blip r:embed="rId3"/>
          <a:srcRect t="-1732" b="-1732"/>
          <a:stretch/>
        </p:blipFill>
        <p:spPr>
          <a:xfrm>
            <a:off x="5110480" y="944882"/>
            <a:ext cx="6136640" cy="4254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D6"/>
                </a:solidFill>
                <a:latin typeface="DM Sans" pitchFamily="34" charset="0"/>
                <a:ea typeface="DM Sans" pitchFamily="34" charset="-122"/>
                <a:cs typeface="DM Sans" pitchFamily="34" charset="-120"/>
              </a:rPr>
              <a:t>TASK 5</a:t>
            </a:r>
            <a:endParaRPr lang="en-US" sz="1200" dirty="0"/>
          </a:p>
        </p:txBody>
      </p:sp>
      <p:sp>
        <p:nvSpPr>
          <p:cNvPr id="3" name="Text 1"/>
          <p:cNvSpPr>
            <a:spLocks noGrp="1"/>
          </p:cNvSpPr>
          <p:nvPr>
            <p:ph type="title"/>
          </p:nvPr>
        </p:nvSpPr>
        <p:spPr>
          <a:xfrm>
            <a:off x="812800" y="1102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B45"/>
                </a:solidFill>
                <a:latin typeface="Poppins" pitchFamily="34" charset="0"/>
                <a:ea typeface="Poppins" pitchFamily="34" charset="-122"/>
                <a:cs typeface="Poppins" pitchFamily="34" charset="-120"/>
              </a:rPr>
              <a:t>ETL with four SSIS packages</a:t>
            </a:r>
            <a:endParaRPr lang="en-US" sz="3200" dirty="0"/>
          </a:p>
        </p:txBody>
      </p:sp>
      <p:sp>
        <p:nvSpPr>
          <p:cNvPr id="4" name="Shape 2"/>
          <p:cNvSpPr/>
          <p:nvPr/>
        </p:nvSpPr>
        <p:spPr>
          <a:xfrm>
            <a:off x="815975" y="1877696"/>
            <a:ext cx="2275840" cy="1959610"/>
          </a:xfrm>
          <a:prstGeom prst="roundRect">
            <a:avLst>
              <a:gd name="adj" fmla="val 6319"/>
            </a:avLst>
          </a:prstGeom>
          <a:solidFill>
            <a:srgbClr val="FBFCFE"/>
          </a:solidFill>
          <a:ln w="6350">
            <a:solidFill>
              <a:srgbClr val="DCE3EE"/>
            </a:solidFill>
            <a:prstDash val="solid"/>
          </a:ln>
        </p:spPr>
      </p:sp>
      <p:sp>
        <p:nvSpPr>
          <p:cNvPr id="5" name="Text 3"/>
          <p:cNvSpPr/>
          <p:nvPr/>
        </p:nvSpPr>
        <p:spPr>
          <a:xfrm>
            <a:off x="1021080" y="2082800"/>
            <a:ext cx="192159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D6"/>
                </a:solidFill>
                <a:latin typeface="DM Sans" pitchFamily="34" charset="0"/>
                <a:ea typeface="DM Sans" pitchFamily="34" charset="-122"/>
                <a:cs typeface="DM Sans" pitchFamily="34" charset="-120"/>
              </a:rPr>
              <a:t>PACKAGE 01</a:t>
            </a:r>
            <a:endParaRPr lang="en-US" sz="1200" dirty="0"/>
          </a:p>
        </p:txBody>
      </p:sp>
      <p:sp>
        <p:nvSpPr>
          <p:cNvPr id="6" name="Text 4"/>
          <p:cNvSpPr/>
          <p:nvPr/>
        </p:nvSpPr>
        <p:spPr>
          <a:xfrm>
            <a:off x="1021080" y="2372361"/>
            <a:ext cx="192159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C2B45"/>
                </a:solidFill>
                <a:latin typeface="DM Sans" pitchFamily="34" charset="0"/>
                <a:ea typeface="DM Sans" pitchFamily="34" charset="-122"/>
                <a:cs typeface="DM Sans" pitchFamily="34" charset="-120"/>
              </a:rPr>
              <a:t>Extract</a:t>
            </a:r>
            <a:endParaRPr lang="en-US" sz="1700" dirty="0"/>
          </a:p>
        </p:txBody>
      </p:sp>
      <p:sp>
        <p:nvSpPr>
          <p:cNvPr id="7" name="Text 5"/>
          <p:cNvSpPr/>
          <p:nvPr/>
        </p:nvSpPr>
        <p:spPr>
          <a:xfrm>
            <a:off x="1021080" y="2707639"/>
            <a:ext cx="1921599"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7 OLE DB flows, 2 flat file flows, Script Task calls the holiday API</a:t>
            </a:r>
            <a:endParaRPr lang="en-US" sz="1300" dirty="0"/>
          </a:p>
        </p:txBody>
      </p:sp>
      <p:pic>
        <p:nvPicPr>
          <p:cNvPr id="8" name="Image 0" descr="arrow-right"/>
          <p:cNvPicPr>
            <a:picLocks noChangeAspect="1"/>
          </p:cNvPicPr>
          <p:nvPr/>
        </p:nvPicPr>
        <p:blipFill>
          <a:blip r:embed="rId3"/>
          <a:srcRect/>
          <a:stretch/>
        </p:blipFill>
        <p:spPr>
          <a:xfrm>
            <a:off x="3196590" y="2755900"/>
            <a:ext cx="279400" cy="203200"/>
          </a:xfrm>
          <a:prstGeom prst="rect">
            <a:avLst/>
          </a:prstGeom>
        </p:spPr>
      </p:pic>
      <p:sp>
        <p:nvSpPr>
          <p:cNvPr id="9" name="Shape 6"/>
          <p:cNvSpPr/>
          <p:nvPr/>
        </p:nvSpPr>
        <p:spPr>
          <a:xfrm>
            <a:off x="3580765" y="1877696"/>
            <a:ext cx="2275840" cy="1959610"/>
          </a:xfrm>
          <a:prstGeom prst="roundRect">
            <a:avLst>
              <a:gd name="adj" fmla="val 6319"/>
            </a:avLst>
          </a:prstGeom>
          <a:solidFill>
            <a:srgbClr val="FBFCFE"/>
          </a:solidFill>
          <a:ln w="6350">
            <a:solidFill>
              <a:srgbClr val="DCE3EE"/>
            </a:solidFill>
            <a:prstDash val="solid"/>
          </a:ln>
        </p:spPr>
      </p:sp>
      <p:sp>
        <p:nvSpPr>
          <p:cNvPr id="10" name="Text 7"/>
          <p:cNvSpPr/>
          <p:nvPr/>
        </p:nvSpPr>
        <p:spPr>
          <a:xfrm>
            <a:off x="3785870" y="2082800"/>
            <a:ext cx="192159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D6"/>
                </a:solidFill>
                <a:latin typeface="DM Sans" pitchFamily="34" charset="0"/>
                <a:ea typeface="DM Sans" pitchFamily="34" charset="-122"/>
                <a:cs typeface="DM Sans" pitchFamily="34" charset="-120"/>
              </a:rPr>
              <a:t>PACKAGE 02</a:t>
            </a:r>
            <a:endParaRPr lang="en-US" sz="1200" dirty="0"/>
          </a:p>
        </p:txBody>
      </p:sp>
      <p:sp>
        <p:nvSpPr>
          <p:cNvPr id="11" name="Text 8"/>
          <p:cNvSpPr/>
          <p:nvPr/>
        </p:nvSpPr>
        <p:spPr>
          <a:xfrm>
            <a:off x="3785870" y="2372361"/>
            <a:ext cx="192159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C2B45"/>
                </a:solidFill>
                <a:latin typeface="DM Sans" pitchFamily="34" charset="0"/>
                <a:ea typeface="DM Sans" pitchFamily="34" charset="-122"/>
                <a:cs typeface="DM Sans" pitchFamily="34" charset="-120"/>
              </a:rPr>
              <a:t>Dimensions</a:t>
            </a:r>
            <a:endParaRPr lang="en-US" sz="1700" dirty="0"/>
          </a:p>
        </p:txBody>
      </p:sp>
      <p:sp>
        <p:nvSpPr>
          <p:cNvPr id="12" name="Text 9"/>
          <p:cNvSpPr/>
          <p:nvPr/>
        </p:nvSpPr>
        <p:spPr>
          <a:xfrm>
            <a:off x="3785870" y="2707639"/>
            <a:ext cx="1921599"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T-SQL source queries clean, standardise and derive, then load 7 dimensions</a:t>
            </a:r>
            <a:endParaRPr lang="en-US" sz="1300" dirty="0"/>
          </a:p>
        </p:txBody>
      </p:sp>
      <p:pic>
        <p:nvPicPr>
          <p:cNvPr id="13" name="Image 1" descr="arrow-right"/>
          <p:cNvPicPr>
            <a:picLocks noChangeAspect="1"/>
          </p:cNvPicPr>
          <p:nvPr/>
        </p:nvPicPr>
        <p:blipFill>
          <a:blip r:embed="rId3"/>
          <a:srcRect/>
          <a:stretch/>
        </p:blipFill>
        <p:spPr>
          <a:xfrm>
            <a:off x="5961380" y="2755900"/>
            <a:ext cx="279400" cy="203200"/>
          </a:xfrm>
          <a:prstGeom prst="rect">
            <a:avLst/>
          </a:prstGeom>
        </p:spPr>
      </p:pic>
      <p:sp>
        <p:nvSpPr>
          <p:cNvPr id="14" name="Shape 10"/>
          <p:cNvSpPr/>
          <p:nvPr/>
        </p:nvSpPr>
        <p:spPr>
          <a:xfrm>
            <a:off x="6345555" y="1877696"/>
            <a:ext cx="2275840" cy="1959610"/>
          </a:xfrm>
          <a:prstGeom prst="roundRect">
            <a:avLst>
              <a:gd name="adj" fmla="val 6319"/>
            </a:avLst>
          </a:prstGeom>
          <a:solidFill>
            <a:srgbClr val="FBFCFE"/>
          </a:solidFill>
          <a:ln w="6350">
            <a:solidFill>
              <a:srgbClr val="DCE3EE"/>
            </a:solidFill>
            <a:prstDash val="solid"/>
          </a:ln>
        </p:spPr>
      </p:sp>
      <p:sp>
        <p:nvSpPr>
          <p:cNvPr id="15" name="Text 11"/>
          <p:cNvSpPr/>
          <p:nvPr/>
        </p:nvSpPr>
        <p:spPr>
          <a:xfrm>
            <a:off x="6550660" y="2082800"/>
            <a:ext cx="192159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D6"/>
                </a:solidFill>
                <a:latin typeface="DM Sans" pitchFamily="34" charset="0"/>
                <a:ea typeface="DM Sans" pitchFamily="34" charset="-122"/>
                <a:cs typeface="DM Sans" pitchFamily="34" charset="-120"/>
              </a:rPr>
              <a:t>PACKAGE 03</a:t>
            </a:r>
            <a:endParaRPr lang="en-US" sz="1200" dirty="0"/>
          </a:p>
        </p:txBody>
      </p:sp>
      <p:sp>
        <p:nvSpPr>
          <p:cNvPr id="16" name="Text 12"/>
          <p:cNvSpPr/>
          <p:nvPr/>
        </p:nvSpPr>
        <p:spPr>
          <a:xfrm>
            <a:off x="6550660" y="2372361"/>
            <a:ext cx="192159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C2B45"/>
                </a:solidFill>
                <a:latin typeface="DM Sans" pitchFamily="34" charset="0"/>
                <a:ea typeface="DM Sans" pitchFamily="34" charset="-122"/>
                <a:cs typeface="DM Sans" pitchFamily="34" charset="-120"/>
              </a:rPr>
              <a:t>Facts</a:t>
            </a:r>
            <a:endParaRPr lang="en-US" sz="1700" dirty="0"/>
          </a:p>
        </p:txBody>
      </p:sp>
      <p:sp>
        <p:nvSpPr>
          <p:cNvPr id="17" name="Text 13"/>
          <p:cNvSpPr/>
          <p:nvPr/>
        </p:nvSpPr>
        <p:spPr>
          <a:xfrm>
            <a:off x="6550660" y="2707639"/>
            <a:ext cx="1921599"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Look up surrogate keys and load both fact tables</a:t>
            </a:r>
            <a:endParaRPr lang="en-US" sz="1300" dirty="0"/>
          </a:p>
        </p:txBody>
      </p:sp>
      <p:pic>
        <p:nvPicPr>
          <p:cNvPr id="18" name="Image 2" descr="arrow-right"/>
          <p:cNvPicPr>
            <a:picLocks noChangeAspect="1"/>
          </p:cNvPicPr>
          <p:nvPr/>
        </p:nvPicPr>
        <p:blipFill>
          <a:blip r:embed="rId3"/>
          <a:srcRect/>
          <a:stretch/>
        </p:blipFill>
        <p:spPr>
          <a:xfrm>
            <a:off x="8726170" y="2755900"/>
            <a:ext cx="279400" cy="203200"/>
          </a:xfrm>
          <a:prstGeom prst="rect">
            <a:avLst/>
          </a:prstGeom>
        </p:spPr>
      </p:pic>
      <p:sp>
        <p:nvSpPr>
          <p:cNvPr id="19" name="Shape 14"/>
          <p:cNvSpPr/>
          <p:nvPr/>
        </p:nvSpPr>
        <p:spPr>
          <a:xfrm>
            <a:off x="9107170" y="1874521"/>
            <a:ext cx="2272030" cy="1965960"/>
          </a:xfrm>
          <a:prstGeom prst="roundRect">
            <a:avLst>
              <a:gd name="adj" fmla="val 6460"/>
            </a:avLst>
          </a:prstGeom>
          <a:solidFill>
            <a:srgbClr val="1C2B45"/>
          </a:solidFill>
          <a:ln/>
        </p:spPr>
      </p:sp>
      <p:sp>
        <p:nvSpPr>
          <p:cNvPr id="20" name="Text 15"/>
          <p:cNvSpPr/>
          <p:nvPr/>
        </p:nvSpPr>
        <p:spPr>
          <a:xfrm>
            <a:off x="9310370" y="2077721"/>
            <a:ext cx="192159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DB4F7"/>
                </a:solidFill>
                <a:latin typeface="DM Sans" pitchFamily="34" charset="0"/>
                <a:ea typeface="DM Sans" pitchFamily="34" charset="-122"/>
                <a:cs typeface="DM Sans" pitchFamily="34" charset="-120"/>
              </a:rPr>
              <a:t>PACKAGE 00</a:t>
            </a:r>
            <a:endParaRPr lang="en-US" sz="1200" dirty="0"/>
          </a:p>
        </p:txBody>
      </p:sp>
      <p:sp>
        <p:nvSpPr>
          <p:cNvPr id="21" name="Text 16"/>
          <p:cNvSpPr/>
          <p:nvPr/>
        </p:nvSpPr>
        <p:spPr>
          <a:xfrm>
            <a:off x="9310370" y="2367282"/>
            <a:ext cx="192159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1F4F9"/>
                </a:solidFill>
                <a:latin typeface="DM Sans" pitchFamily="34" charset="0"/>
                <a:ea typeface="DM Sans" pitchFamily="34" charset="-122"/>
                <a:cs typeface="DM Sans" pitchFamily="34" charset="-120"/>
              </a:rPr>
              <a:t>Master</a:t>
            </a:r>
            <a:endParaRPr lang="en-US" sz="1700" dirty="0"/>
          </a:p>
        </p:txBody>
      </p:sp>
      <p:sp>
        <p:nvSpPr>
          <p:cNvPr id="22" name="Text 17"/>
          <p:cNvSpPr/>
          <p:nvPr/>
        </p:nvSpPr>
        <p:spPr>
          <a:xfrm>
            <a:off x="9310370" y="2702561"/>
            <a:ext cx="1921599"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BE0"/>
                </a:solidFill>
                <a:latin typeface="DM Sans" pitchFamily="34" charset="0"/>
                <a:ea typeface="DM Sans" pitchFamily="34" charset="-122"/>
                <a:cs typeface="DM Sans" pitchFamily="34" charset="-120"/>
              </a:rPr>
              <a:t>Runs 01, 02, 03 in order, then the validation procedure</a:t>
            </a:r>
            <a:endParaRPr lang="en-US" sz="1300" dirty="0"/>
          </a:p>
        </p:txBody>
      </p:sp>
      <p:sp>
        <p:nvSpPr>
          <p:cNvPr id="23" name="Shape 18"/>
          <p:cNvSpPr/>
          <p:nvPr/>
        </p:nvSpPr>
        <p:spPr>
          <a:xfrm>
            <a:off x="812800" y="4145282"/>
            <a:ext cx="10566400" cy="939800"/>
          </a:xfrm>
          <a:prstGeom prst="roundRect">
            <a:avLst>
              <a:gd name="adj" fmla="val 13514"/>
            </a:avLst>
          </a:prstGeom>
          <a:solidFill>
            <a:srgbClr val="E3F1EC"/>
          </a:solidFill>
          <a:ln/>
        </p:spPr>
      </p:sp>
      <p:pic>
        <p:nvPicPr>
          <p:cNvPr id="24" name="Image 3" descr="CheckCircle"/>
          <p:cNvPicPr>
            <a:picLocks noChangeAspect="1"/>
          </p:cNvPicPr>
          <p:nvPr/>
        </p:nvPicPr>
        <p:blipFill>
          <a:blip r:embed="rId4"/>
          <a:srcRect t="-99" b="-99"/>
          <a:stretch/>
        </p:blipFill>
        <p:spPr>
          <a:xfrm>
            <a:off x="1016000" y="4411982"/>
            <a:ext cx="361236" cy="406400"/>
          </a:xfrm>
          <a:prstGeom prst="rect">
            <a:avLst/>
          </a:prstGeom>
        </p:spPr>
      </p:pic>
      <p:sp>
        <p:nvSpPr>
          <p:cNvPr id="25" name="Text 19"/>
          <p:cNvSpPr/>
          <p:nvPr/>
        </p:nvSpPr>
        <p:spPr>
          <a:xfrm>
            <a:off x="1529636" y="4348482"/>
            <a:ext cx="9935756"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C2B45"/>
                </a:solidFill>
                <a:latin typeface="DM Sans" pitchFamily="34" charset="0"/>
                <a:ea typeface="DM Sans" pitchFamily="34" charset="-122"/>
                <a:cs typeface="DM Sans" pitchFamily="34" charset="-120"/>
              </a:rPr>
              <a:t>16 of 16 validation checks passed</a:t>
            </a:r>
            <a:r>
              <a:rPr lang="en-US" sz="1500" dirty="0">
                <a:solidFill>
                  <a:srgbClr val="1C2B45"/>
                </a:solidFill>
                <a:latin typeface="DM Sans" pitchFamily="34" charset="0"/>
                <a:ea typeface="DM Sans" pitchFamily="34" charset="-122"/>
                <a:cs typeface="DM Sans" pitchFamily="34" charset="-120"/>
              </a:rPr>
              <a:t>: row counts, item price R$ 13,591,643.70, freight and payment totals all match the source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D6"/>
                </a:solidFill>
                <a:latin typeface="DM Sans" pitchFamily="34" charset="0"/>
                <a:ea typeface="DM Sans" pitchFamily="34" charset="-122"/>
                <a:cs typeface="DM Sans" pitchFamily="34" charset="-120"/>
              </a:rPr>
              <a:t>TASK 6</a:t>
            </a:r>
            <a:endParaRPr lang="en-US" sz="1200" dirty="0"/>
          </a:p>
        </p:txBody>
      </p:sp>
      <p:sp>
        <p:nvSpPr>
          <p:cNvPr id="3" name="Text 1"/>
          <p:cNvSpPr>
            <a:spLocks noGrp="1"/>
          </p:cNvSpPr>
          <p:nvPr>
            <p:ph type="title"/>
          </p:nvPr>
        </p:nvSpPr>
        <p:spPr>
          <a:xfrm>
            <a:off x="812800" y="1102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B45"/>
                </a:solidFill>
                <a:latin typeface="Poppins" pitchFamily="34" charset="0"/>
                <a:ea typeface="Poppins" pitchFamily="34" charset="-122"/>
                <a:cs typeface="Poppins" pitchFamily="34" charset="-120"/>
              </a:rPr>
              <a:t>Two department data marts</a:t>
            </a:r>
            <a:endParaRPr lang="en-US" sz="3200" dirty="0"/>
          </a:p>
        </p:txBody>
      </p:sp>
      <p:sp>
        <p:nvSpPr>
          <p:cNvPr id="4" name="Shape 2"/>
          <p:cNvSpPr/>
          <p:nvPr/>
        </p:nvSpPr>
        <p:spPr>
          <a:xfrm>
            <a:off x="815975" y="1877696"/>
            <a:ext cx="5175250" cy="2828290"/>
          </a:xfrm>
          <a:prstGeom prst="roundRect">
            <a:avLst>
              <a:gd name="adj" fmla="val 4378"/>
            </a:avLst>
          </a:prstGeom>
          <a:solidFill>
            <a:srgbClr val="FBFCFE"/>
          </a:solidFill>
          <a:ln w="6350">
            <a:solidFill>
              <a:srgbClr val="DCE3EE"/>
            </a:solidFill>
            <a:prstDash val="solid"/>
          </a:ln>
        </p:spPr>
      </p:sp>
      <p:sp>
        <p:nvSpPr>
          <p:cNvPr id="5" name="Text 3"/>
          <p:cNvSpPr/>
          <p:nvPr/>
        </p:nvSpPr>
        <p:spPr>
          <a:xfrm>
            <a:off x="1097280" y="2159000"/>
            <a:ext cx="475101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C2B45"/>
                </a:solidFill>
                <a:latin typeface="Poppins" pitchFamily="34" charset="0"/>
                <a:ea typeface="Poppins" pitchFamily="34" charset="-122"/>
                <a:cs typeface="Poppins" pitchFamily="34" charset="-120"/>
              </a:rPr>
              <a:t>Sales Mart</a:t>
            </a:r>
            <a:endParaRPr lang="en-US" sz="2200" dirty="0"/>
          </a:p>
        </p:txBody>
      </p:sp>
      <p:sp>
        <p:nvSpPr>
          <p:cNvPr id="6" name="Text 4"/>
          <p:cNvSpPr/>
          <p:nvPr/>
        </p:nvSpPr>
        <p:spPr>
          <a:xfrm>
            <a:off x="1097280" y="2621282"/>
            <a:ext cx="475101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DM Sans" pitchFamily="34" charset="0"/>
                <a:ea typeface="DM Sans" pitchFamily="34" charset="-122"/>
                <a:cs typeface="DM Sans" pitchFamily="34" charset="-120"/>
              </a:rPr>
              <a:t>Users:</a:t>
            </a:r>
            <a:r>
              <a:rPr lang="en-US" sz="1400" dirty="0">
                <a:solidFill>
                  <a:srgbClr val="4A5568"/>
                </a:solidFill>
                <a:latin typeface="DM Sans" pitchFamily="34" charset="0"/>
                <a:ea typeface="DM Sans" pitchFamily="34" charset="-122"/>
                <a:cs typeface="DM Sans" pitchFamily="34" charset="-120"/>
              </a:rPr>
              <a:t> sales and marketing managers</a:t>
            </a:r>
            <a:endParaRPr lang="en-US" sz="1400" dirty="0"/>
          </a:p>
        </p:txBody>
      </p:sp>
      <p:sp>
        <p:nvSpPr>
          <p:cNvPr id="7" name="Text 5"/>
          <p:cNvSpPr/>
          <p:nvPr/>
        </p:nvSpPr>
        <p:spPr>
          <a:xfrm>
            <a:off x="1097280" y="2997200"/>
            <a:ext cx="475101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DM Sans" pitchFamily="34" charset="0"/>
                <a:ea typeface="DM Sans" pitchFamily="34" charset="-122"/>
                <a:cs typeface="DM Sans" pitchFamily="34" charset="-120"/>
              </a:rPr>
              <a:t>Grain:</a:t>
            </a:r>
            <a:r>
              <a:rPr lang="en-US" sz="1400" dirty="0">
                <a:solidFill>
                  <a:srgbClr val="4A5568"/>
                </a:solidFill>
                <a:latin typeface="DM Sans" pitchFamily="34" charset="0"/>
                <a:ea typeface="DM Sans" pitchFamily="34" charset="-122"/>
                <a:cs typeface="DM Sans" pitchFamily="34" charset="-120"/>
              </a:rPr>
              <a:t> one row per sold item, from Fact_Sales</a:t>
            </a:r>
            <a:endParaRPr lang="en-US" sz="1400" dirty="0"/>
          </a:p>
        </p:txBody>
      </p:sp>
      <p:sp>
        <p:nvSpPr>
          <p:cNvPr id="8" name="Text 6"/>
          <p:cNvSpPr/>
          <p:nvPr/>
        </p:nvSpPr>
        <p:spPr>
          <a:xfrm>
            <a:off x="1097280" y="3373121"/>
            <a:ext cx="4751019"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DM Sans" pitchFamily="34" charset="0"/>
                <a:ea typeface="DM Sans" pitchFamily="34" charset="-122"/>
                <a:cs typeface="DM Sans" pitchFamily="34" charset="-120"/>
              </a:rPr>
              <a:t>Rule:</a:t>
            </a:r>
            <a:r>
              <a:rPr lang="en-US" sz="1400" dirty="0">
                <a:solidFill>
                  <a:srgbClr val="4A5568"/>
                </a:solidFill>
                <a:latin typeface="DM Sans" pitchFamily="34" charset="0"/>
                <a:ea typeface="DM Sans" pitchFamily="34" charset="-122"/>
                <a:cs typeface="DM Sans" pitchFamily="34" charset="-120"/>
              </a:rPr>
              <a:t> only real sales; 549 items from cancelled or unavailable orders removed</a:t>
            </a:r>
            <a:endParaRPr lang="en-US" sz="1400" dirty="0"/>
          </a:p>
        </p:txBody>
      </p:sp>
      <p:sp>
        <p:nvSpPr>
          <p:cNvPr id="9" name="Text 7"/>
          <p:cNvSpPr/>
          <p:nvPr/>
        </p:nvSpPr>
        <p:spPr>
          <a:xfrm>
            <a:off x="1097280" y="3997961"/>
            <a:ext cx="4751019"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2F6FD6"/>
                </a:solidFill>
                <a:latin typeface="Poppins" pitchFamily="34" charset="0"/>
                <a:ea typeface="Poppins" pitchFamily="34" charset="-122"/>
                <a:cs typeface="Poppins" pitchFamily="34" charset="-120"/>
              </a:rPr>
              <a:t>112,101 rows</a:t>
            </a:r>
            <a:endParaRPr lang="en-US" sz="2400" dirty="0"/>
          </a:p>
        </p:txBody>
      </p:sp>
      <p:sp>
        <p:nvSpPr>
          <p:cNvPr id="10" name="Shape 8"/>
          <p:cNvSpPr/>
          <p:nvPr/>
        </p:nvSpPr>
        <p:spPr>
          <a:xfrm>
            <a:off x="6200775" y="1877696"/>
            <a:ext cx="5175250" cy="2828290"/>
          </a:xfrm>
          <a:prstGeom prst="roundRect">
            <a:avLst>
              <a:gd name="adj" fmla="val 4378"/>
            </a:avLst>
          </a:prstGeom>
          <a:solidFill>
            <a:srgbClr val="FBFCFE"/>
          </a:solidFill>
          <a:ln w="6350">
            <a:solidFill>
              <a:srgbClr val="DCE3EE"/>
            </a:solidFill>
            <a:prstDash val="solid"/>
          </a:ln>
        </p:spPr>
      </p:sp>
      <p:sp>
        <p:nvSpPr>
          <p:cNvPr id="11" name="Text 9"/>
          <p:cNvSpPr/>
          <p:nvPr/>
        </p:nvSpPr>
        <p:spPr>
          <a:xfrm>
            <a:off x="6482080" y="2159000"/>
            <a:ext cx="475101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C2B45"/>
                </a:solidFill>
                <a:latin typeface="Poppins" pitchFamily="34" charset="0"/>
                <a:ea typeface="Poppins" pitchFamily="34" charset="-122"/>
                <a:cs typeface="Poppins" pitchFamily="34" charset="-120"/>
              </a:rPr>
              <a:t>Delivery &amp; Satisfaction Mart</a:t>
            </a:r>
            <a:endParaRPr lang="en-US" sz="2200" dirty="0"/>
          </a:p>
        </p:txBody>
      </p:sp>
      <p:sp>
        <p:nvSpPr>
          <p:cNvPr id="12" name="Text 10"/>
          <p:cNvSpPr/>
          <p:nvPr/>
        </p:nvSpPr>
        <p:spPr>
          <a:xfrm>
            <a:off x="6482080" y="2621282"/>
            <a:ext cx="475101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DM Sans" pitchFamily="34" charset="0"/>
                <a:ea typeface="DM Sans" pitchFamily="34" charset="-122"/>
                <a:cs typeface="DM Sans" pitchFamily="34" charset="-120"/>
              </a:rPr>
              <a:t>Users:</a:t>
            </a:r>
            <a:r>
              <a:rPr lang="en-US" sz="1400" dirty="0">
                <a:solidFill>
                  <a:srgbClr val="4A5568"/>
                </a:solidFill>
                <a:latin typeface="DM Sans" pitchFamily="34" charset="0"/>
                <a:ea typeface="DM Sans" pitchFamily="34" charset="-122"/>
                <a:cs typeface="DM Sans" pitchFamily="34" charset="-120"/>
              </a:rPr>
              <a:t> operations and customer service</a:t>
            </a:r>
            <a:endParaRPr lang="en-US" sz="1400" dirty="0"/>
          </a:p>
        </p:txBody>
      </p:sp>
      <p:sp>
        <p:nvSpPr>
          <p:cNvPr id="13" name="Text 11"/>
          <p:cNvSpPr/>
          <p:nvPr/>
        </p:nvSpPr>
        <p:spPr>
          <a:xfrm>
            <a:off x="6482080" y="2997200"/>
            <a:ext cx="475101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DM Sans" pitchFamily="34" charset="0"/>
                <a:ea typeface="DM Sans" pitchFamily="34" charset="-122"/>
                <a:cs typeface="DM Sans" pitchFamily="34" charset="-120"/>
              </a:rPr>
              <a:t>Grain:</a:t>
            </a:r>
            <a:r>
              <a:rPr lang="en-US" sz="1400" dirty="0">
                <a:solidFill>
                  <a:srgbClr val="4A5568"/>
                </a:solidFill>
                <a:latin typeface="DM Sans" pitchFamily="34" charset="0"/>
                <a:ea typeface="DM Sans" pitchFamily="34" charset="-122"/>
                <a:cs typeface="DM Sans" pitchFamily="34" charset="-120"/>
              </a:rPr>
              <a:t> one row per order, from Fact_OrderFulfilment</a:t>
            </a:r>
            <a:endParaRPr lang="en-US" sz="1400" dirty="0"/>
          </a:p>
        </p:txBody>
      </p:sp>
      <p:sp>
        <p:nvSpPr>
          <p:cNvPr id="14" name="Text 12"/>
          <p:cNvSpPr/>
          <p:nvPr/>
        </p:nvSpPr>
        <p:spPr>
          <a:xfrm>
            <a:off x="6482080" y="3373121"/>
            <a:ext cx="4751019"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DM Sans" pitchFamily="34" charset="0"/>
                <a:ea typeface="DM Sans" pitchFamily="34" charset="-122"/>
                <a:cs typeface="DM Sans" pitchFamily="34" charset="-120"/>
              </a:rPr>
              <a:t>Rule:</a:t>
            </a:r>
            <a:r>
              <a:rPr lang="en-US" sz="1400" dirty="0">
                <a:solidFill>
                  <a:srgbClr val="4A5568"/>
                </a:solidFill>
                <a:latin typeface="DM Sans" pitchFamily="34" charset="0"/>
                <a:ea typeface="DM Sans" pitchFamily="34" charset="-122"/>
                <a:cs typeface="DM Sans" pitchFamily="34" charset="-120"/>
              </a:rPr>
              <a:t> only delivered orders, so every delivery measure is meaningful</a:t>
            </a:r>
            <a:endParaRPr lang="en-US" sz="1400" dirty="0"/>
          </a:p>
        </p:txBody>
      </p:sp>
      <p:sp>
        <p:nvSpPr>
          <p:cNvPr id="15" name="Text 13"/>
          <p:cNvSpPr/>
          <p:nvPr/>
        </p:nvSpPr>
        <p:spPr>
          <a:xfrm>
            <a:off x="6482080" y="3997961"/>
            <a:ext cx="4751019"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9761C"/>
                </a:solidFill>
                <a:latin typeface="Poppins" pitchFamily="34" charset="0"/>
                <a:ea typeface="Poppins" pitchFamily="34" charset="-122"/>
                <a:cs typeface="Poppins" pitchFamily="34" charset="-120"/>
              </a:rPr>
              <a:t>96,476 rows</a:t>
            </a:r>
            <a:endParaRPr lang="en-US" sz="2400" dirty="0"/>
          </a:p>
        </p:txBody>
      </p:sp>
      <p:sp>
        <p:nvSpPr>
          <p:cNvPr id="16" name="Text 14"/>
          <p:cNvSpPr/>
          <p:nvPr/>
        </p:nvSpPr>
        <p:spPr>
          <a:xfrm>
            <a:off x="812800" y="5013964"/>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Built as SQL views in the mart schema, so they always show current warehouse data.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D6"/>
                </a:solidFill>
                <a:latin typeface="DM Sans" pitchFamily="34" charset="0"/>
                <a:ea typeface="DM Sans" pitchFamily="34" charset="-122"/>
                <a:cs typeface="DM Sans" pitchFamily="34" charset="-120"/>
              </a:rPr>
              <a:t>TASK 7 · OLAP</a:t>
            </a:r>
            <a:endParaRPr lang="en-US" sz="1200" dirty="0"/>
          </a:p>
        </p:txBody>
      </p:sp>
      <p:sp>
        <p:nvSpPr>
          <p:cNvPr id="3" name="Text 1"/>
          <p:cNvSpPr>
            <a:spLocks noGrp="1"/>
          </p:cNvSpPr>
          <p:nvPr>
            <p:ph type="title"/>
          </p:nvPr>
        </p:nvSpPr>
        <p:spPr>
          <a:xfrm>
            <a:off x="812800" y="11023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B45"/>
                </a:solidFill>
                <a:latin typeface="Poppins" pitchFamily="34" charset="0"/>
                <a:ea typeface="Poppins" pitchFamily="34" charset="-122"/>
                <a:cs typeface="Poppins" pitchFamily="34" charset="-120"/>
              </a:rPr>
              <a:t>SSAS cube Olist_Cube</a:t>
            </a:r>
            <a:endParaRPr lang="en-US" sz="3200" dirty="0"/>
          </a:p>
        </p:txBody>
      </p:sp>
      <p:sp>
        <p:nvSpPr>
          <p:cNvPr id="4" name="Text 2"/>
          <p:cNvSpPr/>
          <p:nvPr/>
        </p:nvSpPr>
        <p:spPr>
          <a:xfrm>
            <a:off x="812800" y="1823721"/>
            <a:ext cx="53108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C2B45"/>
                </a:solidFill>
                <a:latin typeface="DM Sans" pitchFamily="34" charset="0"/>
                <a:ea typeface="DM Sans" pitchFamily="34" charset="-122"/>
                <a:cs typeface="DM Sans" pitchFamily="34" charset="-120"/>
              </a:rPr>
              <a:t>Hierarchies for drill-down and roll-up</a:t>
            </a:r>
            <a:endParaRPr lang="en-US" sz="1600" dirty="0"/>
          </a:p>
        </p:txBody>
      </p:sp>
      <p:sp>
        <p:nvSpPr>
          <p:cNvPr id="5" name="Text 3"/>
          <p:cNvSpPr/>
          <p:nvPr/>
        </p:nvSpPr>
        <p:spPr>
          <a:xfrm>
            <a:off x="815975" y="2197739"/>
            <a:ext cx="5149850" cy="506730"/>
          </a:xfrm>
          <a:prstGeom prst="roundRect">
            <a:avLst>
              <a:gd name="adj" fmla="val 19424"/>
            </a:avLst>
          </a:prstGeom>
          <a:solidFill>
            <a:srgbClr val="FBFCFE"/>
          </a:solidFill>
          <a:ln w="6350">
            <a:solidFill>
              <a:srgbClr val="DCE3EE"/>
            </a:solidFill>
            <a:prstDash val="solid"/>
          </a:ln>
        </p:spPr>
        <p:txBody>
          <a:bodyPr wrap="square" lIns="150877" tIns="100077" rIns="7164" bIns="74677" rtlCol="0" anchor="t">
            <a:normAutofit/>
          </a:bodyPr>
          <a:lstStyle/>
          <a:p>
            <a:pPr marL="0" indent="0" algn="l">
              <a:lnSpc>
                <a:spcPts val="1960"/>
              </a:lnSpc>
              <a:buNone/>
            </a:pPr>
            <a:r>
              <a:rPr lang="en-US" sz="1400" b="1" dirty="0">
                <a:solidFill>
                  <a:srgbClr val="24324A"/>
                </a:solidFill>
                <a:latin typeface="DM Sans" pitchFamily="34" charset="0"/>
                <a:ea typeface="DM Sans" pitchFamily="34" charset="-122"/>
                <a:cs typeface="DM Sans" pitchFamily="34" charset="-120"/>
              </a:rPr>
              <a:t>Calendar</a:t>
            </a:r>
            <a:r>
              <a:rPr lang="en-US" sz="1400" dirty="0">
                <a:solidFill>
                  <a:srgbClr val="24324A"/>
                </a:solidFill>
                <a:latin typeface="DM Sans" pitchFamily="34" charset="0"/>
                <a:ea typeface="DM Sans" pitchFamily="34" charset="-122"/>
                <a:cs typeface="DM Sans" pitchFamily="34" charset="-120"/>
              </a:rPr>
              <a:t> · Year › Quarter › Month › Date</a:t>
            </a:r>
            <a:endParaRPr lang="en-US" sz="1400" dirty="0"/>
          </a:p>
        </p:txBody>
      </p:sp>
      <p:sp>
        <p:nvSpPr>
          <p:cNvPr id="6" name="Text 4"/>
          <p:cNvSpPr/>
          <p:nvPr/>
        </p:nvSpPr>
        <p:spPr>
          <a:xfrm>
            <a:off x="815975" y="2837817"/>
            <a:ext cx="5149850" cy="506730"/>
          </a:xfrm>
          <a:prstGeom prst="roundRect">
            <a:avLst>
              <a:gd name="adj" fmla="val 19424"/>
            </a:avLst>
          </a:prstGeom>
          <a:solidFill>
            <a:srgbClr val="FBFCFE"/>
          </a:solidFill>
          <a:ln w="6350">
            <a:solidFill>
              <a:srgbClr val="DCE3EE"/>
            </a:solidFill>
            <a:prstDash val="solid"/>
          </a:ln>
        </p:spPr>
        <p:txBody>
          <a:bodyPr wrap="square" lIns="150877" tIns="100077" rIns="7164" bIns="74677" rtlCol="0" anchor="t">
            <a:normAutofit/>
          </a:bodyPr>
          <a:lstStyle/>
          <a:p>
            <a:pPr marL="0" indent="0" algn="l">
              <a:lnSpc>
                <a:spcPts val="1960"/>
              </a:lnSpc>
              <a:buNone/>
            </a:pPr>
            <a:r>
              <a:rPr lang="en-US" sz="1400" b="1" dirty="0">
                <a:solidFill>
                  <a:srgbClr val="24324A"/>
                </a:solidFill>
                <a:latin typeface="DM Sans" pitchFamily="34" charset="0"/>
                <a:ea typeface="DM Sans" pitchFamily="34" charset="-122"/>
                <a:cs typeface="DM Sans" pitchFamily="34" charset="-120"/>
              </a:rPr>
              <a:t>Geography</a:t>
            </a:r>
            <a:r>
              <a:rPr lang="en-US" sz="1400" dirty="0">
                <a:solidFill>
                  <a:srgbClr val="24324A"/>
                </a:solidFill>
                <a:latin typeface="DM Sans" pitchFamily="34" charset="0"/>
                <a:ea typeface="DM Sans" pitchFamily="34" charset="-122"/>
                <a:cs typeface="DM Sans" pitchFamily="34" charset="-120"/>
              </a:rPr>
              <a:t> · Region › State › City › Zip</a:t>
            </a:r>
            <a:endParaRPr lang="en-US" sz="1400" dirty="0"/>
          </a:p>
        </p:txBody>
      </p:sp>
      <p:sp>
        <p:nvSpPr>
          <p:cNvPr id="7" name="Text 5"/>
          <p:cNvSpPr/>
          <p:nvPr/>
        </p:nvSpPr>
        <p:spPr>
          <a:xfrm>
            <a:off x="815975" y="3477896"/>
            <a:ext cx="5149850" cy="506730"/>
          </a:xfrm>
          <a:prstGeom prst="roundRect">
            <a:avLst>
              <a:gd name="adj" fmla="val 19424"/>
            </a:avLst>
          </a:prstGeom>
          <a:solidFill>
            <a:srgbClr val="FBFCFE"/>
          </a:solidFill>
          <a:ln w="6350">
            <a:solidFill>
              <a:srgbClr val="DCE3EE"/>
            </a:solidFill>
            <a:prstDash val="solid"/>
          </a:ln>
        </p:spPr>
        <p:txBody>
          <a:bodyPr wrap="square" lIns="150877" tIns="100077" rIns="7164" bIns="74677" rtlCol="0" anchor="t">
            <a:normAutofit/>
          </a:bodyPr>
          <a:lstStyle/>
          <a:p>
            <a:pPr marL="0" indent="0" algn="l">
              <a:lnSpc>
                <a:spcPts val="1960"/>
              </a:lnSpc>
              <a:buNone/>
            </a:pPr>
            <a:r>
              <a:rPr lang="en-US" sz="1400" b="1" dirty="0">
                <a:solidFill>
                  <a:srgbClr val="24324A"/>
                </a:solidFill>
                <a:latin typeface="DM Sans" pitchFamily="34" charset="0"/>
                <a:ea typeface="DM Sans" pitchFamily="34" charset="-122"/>
                <a:cs typeface="DM Sans" pitchFamily="34" charset="-120"/>
              </a:rPr>
              <a:t>Product</a:t>
            </a:r>
            <a:r>
              <a:rPr lang="en-US" sz="1400" dirty="0">
                <a:solidFill>
                  <a:srgbClr val="24324A"/>
                </a:solidFill>
                <a:latin typeface="DM Sans" pitchFamily="34" charset="0"/>
                <a:ea typeface="DM Sans" pitchFamily="34" charset="-122"/>
                <a:cs typeface="DM Sans" pitchFamily="34" charset="-120"/>
              </a:rPr>
              <a:t> · Category › Product</a:t>
            </a:r>
            <a:endParaRPr lang="en-US" sz="1400" dirty="0"/>
          </a:p>
        </p:txBody>
      </p:sp>
      <p:sp>
        <p:nvSpPr>
          <p:cNvPr id="8" name="Text 6"/>
          <p:cNvSpPr/>
          <p:nvPr/>
        </p:nvSpPr>
        <p:spPr>
          <a:xfrm>
            <a:off x="815975" y="4117975"/>
            <a:ext cx="5149850" cy="506730"/>
          </a:xfrm>
          <a:prstGeom prst="roundRect">
            <a:avLst>
              <a:gd name="adj" fmla="val 19424"/>
            </a:avLst>
          </a:prstGeom>
          <a:solidFill>
            <a:srgbClr val="FBFCFE"/>
          </a:solidFill>
          <a:ln w="6350">
            <a:solidFill>
              <a:srgbClr val="DCE3EE"/>
            </a:solidFill>
            <a:prstDash val="solid"/>
          </a:ln>
        </p:spPr>
        <p:txBody>
          <a:bodyPr wrap="square" lIns="150877" tIns="100077" rIns="7164" bIns="74677" rtlCol="0" anchor="t">
            <a:normAutofit/>
          </a:bodyPr>
          <a:lstStyle/>
          <a:p>
            <a:pPr marL="0" indent="0" algn="l">
              <a:lnSpc>
                <a:spcPts val="1960"/>
              </a:lnSpc>
              <a:buNone/>
            </a:pPr>
            <a:r>
              <a:rPr lang="en-US" sz="1400" b="1" dirty="0">
                <a:solidFill>
                  <a:srgbClr val="24324A"/>
                </a:solidFill>
                <a:latin typeface="DM Sans" pitchFamily="34" charset="0"/>
                <a:ea typeface="DM Sans" pitchFamily="34" charset="-122"/>
                <a:cs typeface="DM Sans" pitchFamily="34" charset="-120"/>
              </a:rPr>
              <a:t>Payment</a:t>
            </a:r>
            <a:r>
              <a:rPr lang="en-US" sz="1400" dirty="0">
                <a:solidFill>
                  <a:srgbClr val="24324A"/>
                </a:solidFill>
                <a:latin typeface="DM Sans" pitchFamily="34" charset="0"/>
                <a:ea typeface="DM Sans" pitchFamily="34" charset="-122"/>
                <a:cs typeface="DM Sans" pitchFamily="34" charset="-120"/>
              </a:rPr>
              <a:t> · Group › Type</a:t>
            </a:r>
            <a:endParaRPr lang="en-US" sz="1400" dirty="0"/>
          </a:p>
        </p:txBody>
      </p:sp>
      <p:sp>
        <p:nvSpPr>
          <p:cNvPr id="9" name="Text 7"/>
          <p:cNvSpPr/>
          <p:nvPr/>
        </p:nvSpPr>
        <p:spPr>
          <a:xfrm>
            <a:off x="815975" y="4758054"/>
            <a:ext cx="5149850" cy="506730"/>
          </a:xfrm>
          <a:prstGeom prst="roundRect">
            <a:avLst>
              <a:gd name="adj" fmla="val 19424"/>
            </a:avLst>
          </a:prstGeom>
          <a:solidFill>
            <a:srgbClr val="FBFCFE"/>
          </a:solidFill>
          <a:ln w="6350">
            <a:solidFill>
              <a:srgbClr val="DCE3EE"/>
            </a:solidFill>
            <a:prstDash val="solid"/>
          </a:ln>
        </p:spPr>
        <p:txBody>
          <a:bodyPr wrap="square" lIns="150877" tIns="100077" rIns="7164" bIns="74677" rtlCol="0" anchor="t">
            <a:normAutofit/>
          </a:bodyPr>
          <a:lstStyle/>
          <a:p>
            <a:pPr marL="0" indent="0" algn="l">
              <a:lnSpc>
                <a:spcPts val="1960"/>
              </a:lnSpc>
              <a:buNone/>
            </a:pPr>
            <a:r>
              <a:rPr lang="en-US" sz="1400" b="1" dirty="0">
                <a:solidFill>
                  <a:srgbClr val="24324A"/>
                </a:solidFill>
                <a:latin typeface="DM Sans" pitchFamily="34" charset="0"/>
                <a:ea typeface="DM Sans" pitchFamily="34" charset="-122"/>
                <a:cs typeface="DM Sans" pitchFamily="34" charset="-120"/>
              </a:rPr>
              <a:t>Status</a:t>
            </a:r>
            <a:r>
              <a:rPr lang="en-US" sz="1400" dirty="0">
                <a:solidFill>
                  <a:srgbClr val="24324A"/>
                </a:solidFill>
                <a:latin typeface="DM Sans" pitchFamily="34" charset="0"/>
                <a:ea typeface="DM Sans" pitchFamily="34" charset="-122"/>
                <a:cs typeface="DM Sans" pitchFamily="34" charset="-120"/>
              </a:rPr>
              <a:t> · Group › Status</a:t>
            </a:r>
            <a:endParaRPr lang="en-US" sz="1400" dirty="0"/>
          </a:p>
        </p:txBody>
      </p:sp>
      <p:sp>
        <p:nvSpPr>
          <p:cNvPr id="10" name="Text 8"/>
          <p:cNvSpPr/>
          <p:nvPr/>
        </p:nvSpPr>
        <p:spPr>
          <a:xfrm>
            <a:off x="6223000" y="1823721"/>
            <a:ext cx="53108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C2B45"/>
                </a:solidFill>
                <a:latin typeface="DM Sans" pitchFamily="34" charset="0"/>
                <a:ea typeface="DM Sans" pitchFamily="34" charset="-122"/>
                <a:cs typeface="DM Sans" pitchFamily="34" charset="-120"/>
              </a:rPr>
              <a:t>Verified against the warehouse</a:t>
            </a:r>
            <a:endParaRPr lang="en-US" sz="1600" dirty="0"/>
          </a:p>
        </p:txBody>
      </p:sp>
      <p:sp>
        <p:nvSpPr>
          <p:cNvPr id="11" name="Shape 9"/>
          <p:cNvSpPr/>
          <p:nvPr/>
        </p:nvSpPr>
        <p:spPr>
          <a:xfrm>
            <a:off x="6223000" y="2194564"/>
            <a:ext cx="5156200" cy="2513330"/>
          </a:xfrm>
          <a:prstGeom prst="rect">
            <a:avLst/>
          </a:prstGeom>
          <a:solidFill>
            <a:srgbClr val="FBFCFE"/>
          </a:solidFill>
          <a:ln/>
        </p:spPr>
      </p:sp>
      <p:sp>
        <p:nvSpPr>
          <p:cNvPr id="12" name="Shape 10"/>
          <p:cNvSpPr/>
          <p:nvPr/>
        </p:nvSpPr>
        <p:spPr>
          <a:xfrm>
            <a:off x="11376025" y="2194564"/>
            <a:ext cx="0" cy="2513330"/>
          </a:xfrm>
          <a:prstGeom prst="line">
            <a:avLst/>
          </a:prstGeom>
          <a:noFill/>
          <a:ln w="6350">
            <a:solidFill>
              <a:srgbClr val="DCE3EE"/>
            </a:solidFill>
            <a:prstDash val="solid"/>
          </a:ln>
        </p:spPr>
      </p:sp>
      <p:sp>
        <p:nvSpPr>
          <p:cNvPr id="13" name="Shape 11"/>
          <p:cNvSpPr/>
          <p:nvPr/>
        </p:nvSpPr>
        <p:spPr>
          <a:xfrm>
            <a:off x="6223000" y="4704719"/>
            <a:ext cx="5156200" cy="0"/>
          </a:xfrm>
          <a:prstGeom prst="line">
            <a:avLst/>
          </a:prstGeom>
          <a:noFill/>
          <a:ln w="6350">
            <a:solidFill>
              <a:srgbClr val="DCE3EE"/>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33160" y="2204724"/>
          <a:ext cx="5140960" cy="2498090"/>
        </p:xfrm>
        <a:graphic>
          <a:graphicData uri="http://schemas.openxmlformats.org/drawingml/2006/table">
            <a:tbl>
              <a:tblPr/>
              <a:tblGrid>
                <a:gridCol w="2827528">
                  <a:extLst>
                    <a:ext uri="{9D8B030D-6E8A-4147-A177-3AD203B41FA5}">
                      <a16:colId xmlns:a16="http://schemas.microsoft.com/office/drawing/2014/main" val="20000"/>
                    </a:ext>
                  </a:extLst>
                </a:gridCol>
                <a:gridCol w="2313432">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F1F4F9"/>
                          </a:solidFill>
                          <a:latin typeface="DM Sans" pitchFamily="34" charset="0"/>
                          <a:ea typeface="DM Sans" pitchFamily="34" charset="-122"/>
                          <a:cs typeface="DM Sans" pitchFamily="34" charset="-120"/>
                        </a:rPr>
                        <a:t>Measure</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1A263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1A263A"/>
                      </a:solidFill>
                      <a:prstDash val="solid"/>
                      <a:round/>
                      <a:headEnd type="none" w="med" len="med"/>
                      <a:tailEnd type="none" w="med" len="med"/>
                    </a:lnB>
                    <a:solidFill>
                      <a:srgbClr val="1C2B45"/>
                    </a:solidFill>
                  </a:tcPr>
                </a:tc>
                <a:tc>
                  <a:txBody>
                    <a:bodyPr/>
                    <a:lstStyle/>
                    <a:p>
                      <a:pPr marL="0" indent="0" algn="r">
                        <a:lnSpc>
                          <a:spcPts val="1820"/>
                        </a:lnSpc>
                        <a:buNone/>
                      </a:pPr>
                      <a:r>
                        <a:rPr lang="en-US" sz="1300" b="1" dirty="0">
                          <a:solidFill>
                            <a:srgbClr val="F1F4F9"/>
                          </a:solidFill>
                          <a:latin typeface="DM Sans" pitchFamily="34" charset="0"/>
                          <a:ea typeface="DM Sans" pitchFamily="34" charset="-122"/>
                          <a:cs typeface="DM Sans" pitchFamily="34" charset="-120"/>
                        </a:rPr>
                        <a:t>Cube result</a:t>
                      </a:r>
                      <a:endParaRPr lang="en-US" sz="1300" dirty="0">
                        <a:latin typeface="DM Sans" charset="0"/>
                        <a:ea typeface="DM Sans" charset="0"/>
                        <a:cs typeface="DM Sans" charset="0"/>
                      </a:endParaRPr>
                    </a:p>
                  </a:txBody>
                  <a:tcPr marL="57785" marR="57785" marT="57785" marB="57785">
                    <a:lnL w="12700" cap="flat" cmpd="sng" algn="ctr">
                      <a:solidFill>
                        <a:srgbClr val="1A263A"/>
                      </a:solidFill>
                      <a:prstDash val="solid"/>
                      <a:round/>
                      <a:headEnd type="none" w="med" len="med"/>
                      <a:tailEnd type="none" w="med" len="med"/>
                    </a:lnL>
                    <a:lnR w="12700" cap="flat" cmpd="sng" algn="ctr">
                      <a:solidFill>
                        <a:srgbClr val="1A263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1A263A"/>
                      </a:solidFill>
                      <a:prstDash val="solid"/>
                      <a:round/>
                      <a:headEnd type="none" w="med" len="med"/>
                      <a:tailEnd type="none" w="med" len="med"/>
                    </a:lnB>
                    <a:solidFill>
                      <a:srgbClr val="1C2B45"/>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Revenue (real sales)</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1A263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gn="r">
                        <a:lnSpc>
                          <a:spcPts val="1820"/>
                        </a:lnSpc>
                        <a:buNone/>
                      </a:pPr>
                      <a:r>
                        <a:rPr lang="en-US" sz="1300" dirty="0">
                          <a:solidFill>
                            <a:srgbClr val="24324A"/>
                          </a:solidFill>
                          <a:latin typeface="DM Sans" pitchFamily="34" charset="0"/>
                          <a:ea typeface="DM Sans" pitchFamily="34" charset="-122"/>
                          <a:cs typeface="DM Sans" pitchFamily="34" charset="-120"/>
                        </a:rPr>
                        <a:t>13,494,400.74</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1A263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Sales orders</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gn="r">
                        <a:lnSpc>
                          <a:spcPts val="1820"/>
                        </a:lnSpc>
                        <a:buNone/>
                      </a:pPr>
                      <a:r>
                        <a:rPr lang="en-US" sz="1300" dirty="0">
                          <a:solidFill>
                            <a:srgbClr val="24324A"/>
                          </a:solidFill>
                          <a:latin typeface="DM Sans" pitchFamily="34" charset="0"/>
                          <a:ea typeface="DM Sans" pitchFamily="34" charset="-122"/>
                          <a:cs typeface="DM Sans" pitchFamily="34" charset="-120"/>
                        </a:rPr>
                        <a:t>98,199</a:t>
                      </a:r>
                      <a:endParaRPr lang="en-US" sz="1300" dirty="0">
                        <a:latin typeface="DM Sans" charset="0"/>
                        <a:ea typeface="DM Sans" charset="0"/>
                        <a:cs typeface="DM Sans" charset="0"/>
                      </a:endParaRPr>
                    </a:p>
                  </a:txBody>
                  <a:tcPr marL="57785" marR="57785" marT="57785" marB="57785">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Items sold</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gn="r">
                        <a:lnSpc>
                          <a:spcPts val="1820"/>
                        </a:lnSpc>
                        <a:buNone/>
                      </a:pPr>
                      <a:r>
                        <a:rPr lang="en-US" sz="1300" dirty="0">
                          <a:solidFill>
                            <a:srgbClr val="24324A"/>
                          </a:solidFill>
                          <a:latin typeface="DM Sans" pitchFamily="34" charset="0"/>
                          <a:ea typeface="DM Sans" pitchFamily="34" charset="-122"/>
                          <a:cs typeface="DM Sans" pitchFamily="34" charset="-120"/>
                        </a:rPr>
                        <a:t>112,101</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Delivered orders</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gn="r">
                        <a:lnSpc>
                          <a:spcPts val="1820"/>
                        </a:lnSpc>
                        <a:buNone/>
                      </a:pPr>
                      <a:r>
                        <a:rPr lang="en-US" sz="1300" dirty="0">
                          <a:solidFill>
                            <a:srgbClr val="24324A"/>
                          </a:solidFill>
                          <a:latin typeface="DM Sans" pitchFamily="34" charset="0"/>
                          <a:ea typeface="DM Sans" pitchFamily="34" charset="-122"/>
                          <a:cs typeface="DM Sans" pitchFamily="34" charset="-120"/>
                        </a:rPr>
                        <a:t>96,476</a:t>
                      </a:r>
                      <a:endParaRPr lang="en-US" sz="1300" dirty="0">
                        <a:latin typeface="DM Sans" charset="0"/>
                        <a:ea typeface="DM Sans" charset="0"/>
                        <a:cs typeface="DM Sans" charset="0"/>
                      </a:endParaRPr>
                    </a:p>
                  </a:txBody>
                  <a:tcPr marL="57785" marR="57785" marT="57785" marB="57785">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Avg delivery days</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gn="r">
                        <a:lnSpc>
                          <a:spcPts val="1820"/>
                        </a:lnSpc>
                        <a:buNone/>
                      </a:pPr>
                      <a:r>
                        <a:rPr lang="en-US" sz="1300" dirty="0">
                          <a:solidFill>
                            <a:srgbClr val="24324A"/>
                          </a:solidFill>
                          <a:latin typeface="DM Sans" pitchFamily="34" charset="0"/>
                          <a:ea typeface="DM Sans" pitchFamily="34" charset="-122"/>
                          <a:cs typeface="DM Sans" pitchFamily="34" charset="-120"/>
                        </a:rPr>
                        <a:t>12.50</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24324A"/>
                          </a:solidFill>
                          <a:latin typeface="DM Sans" pitchFamily="34" charset="0"/>
                          <a:ea typeface="DM Sans" pitchFamily="34" charset="-122"/>
                          <a:cs typeface="DM Sans" pitchFamily="34" charset="-120"/>
                        </a:rPr>
                        <a:t>Avg review score</a:t>
                      </a:r>
                      <a:endParaRPr lang="en-US" sz="1300" dirty="0">
                        <a:latin typeface="DM Sans" charset="0"/>
                        <a:ea typeface="DM Sans" charset="0"/>
                        <a:cs typeface="DM Sans"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gn="r">
                        <a:lnSpc>
                          <a:spcPts val="1820"/>
                        </a:lnSpc>
                        <a:buNone/>
                      </a:pPr>
                      <a:r>
                        <a:rPr lang="en-US" sz="1300" dirty="0">
                          <a:solidFill>
                            <a:srgbClr val="24324A"/>
                          </a:solidFill>
                          <a:latin typeface="DM Sans" pitchFamily="34" charset="0"/>
                          <a:ea typeface="DM Sans" pitchFamily="34" charset="-122"/>
                          <a:cs typeface="DM Sans" pitchFamily="34" charset="-120"/>
                        </a:rPr>
                        <a:t>4.09</a:t>
                      </a:r>
                      <a:endParaRPr lang="en-US" sz="1300" dirty="0">
                        <a:latin typeface="DM Sans" charset="0"/>
                        <a:ea typeface="DM Sans" charset="0"/>
                        <a:cs typeface="DM Sans" charset="0"/>
                      </a:endParaRPr>
                    </a:p>
                  </a:txBody>
                  <a:tcPr marL="57785" marR="57785" marT="57785" marB="57785">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6"/>
                  </a:ext>
                </a:extLst>
              </a:tr>
            </a:tbl>
          </a:graphicData>
        </a:graphic>
      </p:graphicFrame>
      <p:sp>
        <p:nvSpPr>
          <p:cNvPr id="15" name="Text 12"/>
          <p:cNvSpPr/>
          <p:nvPr/>
        </p:nvSpPr>
        <p:spPr>
          <a:xfrm>
            <a:off x="6223000" y="4834892"/>
            <a:ext cx="5310886"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Two measure groups, calculated members for revenue and averages.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2B45"/>
        </a:solidFill>
        <a:effectLst/>
      </p:bgPr>
    </p:bg>
    <p:spTree>
      <p:nvGrpSpPr>
        <p:cNvPr id="1" name=""/>
        <p:cNvGrpSpPr/>
        <p:nvPr/>
      </p:nvGrpSpPr>
      <p:grpSpPr>
        <a:xfrm>
          <a:off x="0" y="0"/>
          <a:ext cx="0" cy="0"/>
          <a:chOff x="0" y="0"/>
          <a:chExt cx="0" cy="0"/>
        </a:xfrm>
      </p:grpSpPr>
      <p:sp>
        <p:nvSpPr>
          <p:cNvPr id="2" name="Text 0"/>
          <p:cNvSpPr/>
          <p:nvPr/>
        </p:nvSpPr>
        <p:spPr>
          <a:xfrm>
            <a:off x="812800" y="17145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8DB4F7"/>
                </a:solidFill>
                <a:latin typeface="DM Sans" pitchFamily="34" charset="0"/>
                <a:ea typeface="DM Sans" pitchFamily="34" charset="-122"/>
                <a:cs typeface="DM Sans" pitchFamily="34" charset="-120"/>
              </a:rPr>
              <a:t>POWER BI · LIVE CONNECTION TO THE CUBE</a:t>
            </a:r>
            <a:endParaRPr lang="en-US" sz="1400" dirty="0"/>
          </a:p>
        </p:txBody>
      </p:sp>
      <p:sp>
        <p:nvSpPr>
          <p:cNvPr id="3" name="Text 1"/>
          <p:cNvSpPr>
            <a:spLocks noGrp="1"/>
          </p:cNvSpPr>
          <p:nvPr>
            <p:ph type="title"/>
          </p:nvPr>
        </p:nvSpPr>
        <p:spPr>
          <a:xfrm>
            <a:off x="812800" y="2268221"/>
            <a:ext cx="10883392" cy="69596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1F4F9"/>
                </a:solidFill>
                <a:latin typeface="Poppins" pitchFamily="34" charset="0"/>
                <a:ea typeface="Poppins" pitchFamily="34" charset="-122"/>
                <a:cs typeface="Poppins" pitchFamily="34" charset="-120"/>
              </a:rPr>
              <a:t>The dashboards</a:t>
            </a:r>
            <a:endParaRPr lang="en-US" sz="4800" dirty="0"/>
          </a:p>
        </p:txBody>
      </p:sp>
      <p:sp>
        <p:nvSpPr>
          <p:cNvPr id="4" name="Shape 2"/>
          <p:cNvSpPr/>
          <p:nvPr/>
        </p:nvSpPr>
        <p:spPr>
          <a:xfrm>
            <a:off x="812800" y="3256279"/>
            <a:ext cx="3386614" cy="0"/>
          </a:xfrm>
          <a:prstGeom prst="line">
            <a:avLst/>
          </a:prstGeom>
          <a:noFill/>
          <a:ln w="25400">
            <a:solidFill>
              <a:srgbClr val="8DB4F7"/>
            </a:solidFill>
            <a:prstDash val="solid"/>
          </a:ln>
        </p:spPr>
      </p:sp>
      <p:sp>
        <p:nvSpPr>
          <p:cNvPr id="5" name="Text 3"/>
          <p:cNvSpPr/>
          <p:nvPr/>
        </p:nvSpPr>
        <p:spPr>
          <a:xfrm>
            <a:off x="812800" y="3446779"/>
            <a:ext cx="348821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1F4F9"/>
                </a:solidFill>
                <a:latin typeface="Poppins" pitchFamily="34" charset="0"/>
                <a:ea typeface="Poppins" pitchFamily="34" charset="-122"/>
                <a:cs typeface="Poppins" pitchFamily="34" charset="-120"/>
              </a:rPr>
              <a:t>01 Executive Summary</a:t>
            </a:r>
            <a:endParaRPr lang="en-US" sz="2200" dirty="0"/>
          </a:p>
        </p:txBody>
      </p:sp>
      <p:sp>
        <p:nvSpPr>
          <p:cNvPr id="6" name="Text 4"/>
          <p:cNvSpPr/>
          <p:nvPr/>
        </p:nvSpPr>
        <p:spPr>
          <a:xfrm>
            <a:off x="812800" y="3914142"/>
            <a:ext cx="348821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E0"/>
                </a:solidFill>
                <a:latin typeface="DM Sans" pitchFamily="34" charset="0"/>
                <a:ea typeface="DM Sans" pitchFamily="34" charset="-122"/>
                <a:cs typeface="DM Sans" pitchFamily="34" charset="-120"/>
              </a:rPr>
              <a:t>Overall performance at a glance</a:t>
            </a:r>
            <a:endParaRPr lang="en-US" sz="1400" dirty="0"/>
          </a:p>
        </p:txBody>
      </p:sp>
      <p:sp>
        <p:nvSpPr>
          <p:cNvPr id="7" name="Shape 5"/>
          <p:cNvSpPr/>
          <p:nvPr/>
        </p:nvSpPr>
        <p:spPr>
          <a:xfrm>
            <a:off x="4402614" y="3256279"/>
            <a:ext cx="3386693" cy="0"/>
          </a:xfrm>
          <a:prstGeom prst="line">
            <a:avLst/>
          </a:prstGeom>
          <a:noFill/>
          <a:ln w="25400">
            <a:solidFill>
              <a:srgbClr val="8DB4F7"/>
            </a:solidFill>
            <a:prstDash val="solid"/>
          </a:ln>
        </p:spPr>
      </p:sp>
      <p:sp>
        <p:nvSpPr>
          <p:cNvPr id="8" name="Text 6"/>
          <p:cNvSpPr/>
          <p:nvPr/>
        </p:nvSpPr>
        <p:spPr>
          <a:xfrm>
            <a:off x="4402614" y="3446779"/>
            <a:ext cx="3488294"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1F4F9"/>
                </a:solidFill>
                <a:latin typeface="Poppins" pitchFamily="34" charset="0"/>
                <a:ea typeface="Poppins" pitchFamily="34" charset="-122"/>
                <a:cs typeface="Poppins" pitchFamily="34" charset="-120"/>
              </a:rPr>
              <a:t>02 Trend Analysis</a:t>
            </a:r>
            <a:endParaRPr lang="en-US" sz="2200" dirty="0"/>
          </a:p>
        </p:txBody>
      </p:sp>
      <p:sp>
        <p:nvSpPr>
          <p:cNvPr id="9" name="Text 7"/>
          <p:cNvSpPr/>
          <p:nvPr/>
        </p:nvSpPr>
        <p:spPr>
          <a:xfrm>
            <a:off x="4402614" y="3914142"/>
            <a:ext cx="348829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E0"/>
                </a:solidFill>
                <a:latin typeface="DM Sans" pitchFamily="34" charset="0"/>
                <a:ea typeface="DM Sans" pitchFamily="34" charset="-122"/>
                <a:cs typeface="DM Sans" pitchFamily="34" charset="-120"/>
              </a:rPr>
              <a:t>Growth, seasonality, delivery and satisfaction over time</a:t>
            </a:r>
            <a:endParaRPr lang="en-US" sz="1400" dirty="0"/>
          </a:p>
        </p:txBody>
      </p:sp>
      <p:sp>
        <p:nvSpPr>
          <p:cNvPr id="10" name="Shape 8"/>
          <p:cNvSpPr/>
          <p:nvPr/>
        </p:nvSpPr>
        <p:spPr>
          <a:xfrm>
            <a:off x="7992507" y="3256279"/>
            <a:ext cx="3386693" cy="0"/>
          </a:xfrm>
          <a:prstGeom prst="line">
            <a:avLst/>
          </a:prstGeom>
          <a:noFill/>
          <a:ln w="25400">
            <a:solidFill>
              <a:srgbClr val="8DB4F7"/>
            </a:solidFill>
            <a:prstDash val="solid"/>
          </a:ln>
        </p:spPr>
      </p:sp>
      <p:sp>
        <p:nvSpPr>
          <p:cNvPr id="11" name="Text 9"/>
          <p:cNvSpPr/>
          <p:nvPr/>
        </p:nvSpPr>
        <p:spPr>
          <a:xfrm>
            <a:off x="7992507" y="3446779"/>
            <a:ext cx="3488294"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1F4F9"/>
                </a:solidFill>
                <a:latin typeface="Poppins" pitchFamily="34" charset="0"/>
                <a:ea typeface="Poppins" pitchFamily="34" charset="-122"/>
                <a:cs typeface="Poppins" pitchFamily="34" charset="-120"/>
              </a:rPr>
              <a:t>03 Interactive Analysis</a:t>
            </a:r>
            <a:endParaRPr lang="en-US" sz="2200" dirty="0"/>
          </a:p>
        </p:txBody>
      </p:sp>
      <p:sp>
        <p:nvSpPr>
          <p:cNvPr id="12" name="Text 10"/>
          <p:cNvSpPr/>
          <p:nvPr/>
        </p:nvSpPr>
        <p:spPr>
          <a:xfrm>
            <a:off x="7992507" y="3914142"/>
            <a:ext cx="348829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E0"/>
                </a:solidFill>
                <a:latin typeface="DM Sans" pitchFamily="34" charset="0"/>
                <a:ea typeface="DM Sans" pitchFamily="34" charset="-122"/>
                <a:cs typeface="DM Sans" pitchFamily="34" charset="-120"/>
              </a:rPr>
              <a:t>Regions, states and drill-down</a:t>
            </a:r>
            <a:endParaRPr lang="en-US" sz="1400" dirty="0"/>
          </a:p>
        </p:txBody>
      </p:sp>
      <p:sp>
        <p:nvSpPr>
          <p:cNvPr id="13" name="Text 11"/>
          <p:cNvSpPr/>
          <p:nvPr/>
        </p:nvSpPr>
        <p:spPr>
          <a:xfrm>
            <a:off x="812800" y="4894579"/>
            <a:ext cx="98107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E0"/>
                </a:solidFill>
                <a:latin typeface="DM Sans" pitchFamily="34" charset="0"/>
                <a:ea typeface="DM Sans" pitchFamily="34" charset="-122"/>
                <a:cs typeface="DM Sans" pitchFamily="34" charset="-120"/>
              </a:rPr>
              <a:t>Every page covers January 2017 to August 2018; the five nearly empty months are filtered out.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D6"/>
                </a:solidFill>
                <a:latin typeface="DM Sans" pitchFamily="34" charset="0"/>
                <a:ea typeface="DM Sans" pitchFamily="34" charset="-122"/>
                <a:cs typeface="DM Sans" pitchFamily="34" charset="-120"/>
              </a:rPr>
              <a:t>DASHBOARD 01</a:t>
            </a:r>
            <a:endParaRPr lang="en-US" sz="1200" dirty="0"/>
          </a:p>
        </p:txBody>
      </p:sp>
      <p:sp>
        <p:nvSpPr>
          <p:cNvPr id="3" name="Text 1"/>
          <p:cNvSpPr>
            <a:spLocks noGrp="1"/>
          </p:cNvSpPr>
          <p:nvPr>
            <p:ph type="title"/>
          </p:nvPr>
        </p:nvSpPr>
        <p:spPr>
          <a:xfrm>
            <a:off x="812800" y="9245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B45"/>
                </a:solidFill>
                <a:latin typeface="Poppins" pitchFamily="34" charset="0"/>
                <a:ea typeface="Poppins" pitchFamily="34" charset="-122"/>
                <a:cs typeface="Poppins" pitchFamily="34" charset="-120"/>
              </a:rPr>
              <a:t>Executive Summary</a:t>
            </a:r>
            <a:endParaRPr lang="en-US" sz="3200" dirty="0"/>
          </a:p>
        </p:txBody>
      </p:sp>
      <p:sp>
        <p:nvSpPr>
          <p:cNvPr id="5" name="Shape 2"/>
          <p:cNvSpPr/>
          <p:nvPr/>
        </p:nvSpPr>
        <p:spPr>
          <a:xfrm>
            <a:off x="815975" y="1598296"/>
            <a:ext cx="7486650" cy="4191000"/>
          </a:xfrm>
          <a:prstGeom prst="roundRect">
            <a:avLst>
              <a:gd name="adj" fmla="val 1742"/>
            </a:avLst>
          </a:prstGeom>
          <a:noFill/>
          <a:ln w="6350">
            <a:solidFill>
              <a:srgbClr val="DCE3EE"/>
            </a:solidFill>
            <a:prstDash val="solid"/>
          </a:ln>
        </p:spPr>
      </p:sp>
      <p:sp>
        <p:nvSpPr>
          <p:cNvPr id="6" name="Text 3"/>
          <p:cNvSpPr/>
          <p:nvPr/>
        </p:nvSpPr>
        <p:spPr>
          <a:xfrm>
            <a:off x="8559800" y="1595121"/>
            <a:ext cx="290398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C2B45"/>
                </a:solidFill>
                <a:latin typeface="Poppins" pitchFamily="34" charset="0"/>
                <a:ea typeface="Poppins" pitchFamily="34" charset="-122"/>
                <a:cs typeface="Poppins" pitchFamily="34" charset="-120"/>
              </a:rPr>
              <a:t>R$ 13.45M</a:t>
            </a:r>
            <a:endParaRPr lang="en-US" sz="2200" dirty="0"/>
          </a:p>
        </p:txBody>
      </p:sp>
      <p:sp>
        <p:nvSpPr>
          <p:cNvPr id="7" name="Text 4"/>
          <p:cNvSpPr/>
          <p:nvPr/>
        </p:nvSpPr>
        <p:spPr>
          <a:xfrm>
            <a:off x="8559800" y="2024379"/>
            <a:ext cx="29039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revenue, 98K orders, 112K items</a:t>
            </a:r>
            <a:endParaRPr lang="en-US" sz="1200" dirty="0"/>
          </a:p>
        </p:txBody>
      </p:sp>
      <p:sp>
        <p:nvSpPr>
          <p:cNvPr id="8" name="Text 5"/>
          <p:cNvSpPr/>
          <p:nvPr/>
        </p:nvSpPr>
        <p:spPr>
          <a:xfrm>
            <a:off x="8559800" y="2390142"/>
            <a:ext cx="290398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C2B45"/>
                </a:solidFill>
                <a:latin typeface="Poppins" pitchFamily="34" charset="0"/>
                <a:ea typeface="Poppins" pitchFamily="34" charset="-122"/>
                <a:cs typeface="Poppins" pitchFamily="34" charset="-120"/>
              </a:rPr>
              <a:t>46%</a:t>
            </a:r>
            <a:endParaRPr lang="en-US" sz="2200" dirty="0"/>
          </a:p>
        </p:txBody>
      </p:sp>
      <p:sp>
        <p:nvSpPr>
          <p:cNvPr id="9" name="Text 6"/>
          <p:cNvSpPr/>
          <p:nvPr/>
        </p:nvSpPr>
        <p:spPr>
          <a:xfrm>
            <a:off x="8559800" y="2819400"/>
            <a:ext cx="29039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of orders go to São Paulo state</a:t>
            </a:r>
            <a:endParaRPr lang="en-US" sz="1200" dirty="0"/>
          </a:p>
        </p:txBody>
      </p:sp>
      <p:sp>
        <p:nvSpPr>
          <p:cNvPr id="10" name="Text 7"/>
          <p:cNvSpPr/>
          <p:nvPr/>
        </p:nvSpPr>
        <p:spPr>
          <a:xfrm>
            <a:off x="8559800" y="3185164"/>
            <a:ext cx="290398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C2B45"/>
                </a:solidFill>
                <a:latin typeface="Poppins" pitchFamily="34" charset="0"/>
                <a:ea typeface="Poppins" pitchFamily="34" charset="-122"/>
                <a:cs typeface="Poppins" pitchFamily="34" charset="-120"/>
              </a:rPr>
              <a:t>4.09 ★</a:t>
            </a:r>
            <a:endParaRPr lang="en-US" sz="2200" dirty="0"/>
          </a:p>
        </p:txBody>
      </p:sp>
      <p:sp>
        <p:nvSpPr>
          <p:cNvPr id="11" name="Text 8"/>
          <p:cNvSpPr/>
          <p:nvPr/>
        </p:nvSpPr>
        <p:spPr>
          <a:xfrm>
            <a:off x="8559800" y="3614421"/>
            <a:ext cx="290398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average review, 12.5 delivery days, 6.79% late</a:t>
            </a:r>
            <a:endParaRPr lang="en-US" sz="1200" dirty="0"/>
          </a:p>
        </p:txBody>
      </p:sp>
      <p:sp>
        <p:nvSpPr>
          <p:cNvPr id="12" name="Text 9"/>
          <p:cNvSpPr/>
          <p:nvPr/>
        </p:nvSpPr>
        <p:spPr>
          <a:xfrm>
            <a:off x="8559800" y="4193542"/>
            <a:ext cx="290398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C2B45"/>
                </a:solidFill>
                <a:latin typeface="Poppins" pitchFamily="34" charset="0"/>
                <a:ea typeface="Poppins" pitchFamily="34" charset="-122"/>
                <a:cs typeface="Poppins" pitchFamily="34" charset="-120"/>
              </a:rPr>
              <a:t>~2%</a:t>
            </a:r>
            <a:endParaRPr lang="en-US" sz="2200" dirty="0"/>
          </a:p>
        </p:txBody>
      </p:sp>
      <p:sp>
        <p:nvSpPr>
          <p:cNvPr id="13" name="Text 10"/>
          <p:cNvSpPr/>
          <p:nvPr/>
        </p:nvSpPr>
        <p:spPr>
          <a:xfrm>
            <a:off x="8559800" y="4622800"/>
            <a:ext cx="29039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of revenue from the largest seller</a:t>
            </a:r>
            <a:endParaRPr lang="en-US" sz="1200" dirty="0"/>
          </a:p>
        </p:txBody>
      </p:sp>
      <p:pic>
        <p:nvPicPr>
          <p:cNvPr id="16" name="Picture 15">
            <a:extLst>
              <a:ext uri="{FF2B5EF4-FFF2-40B4-BE49-F238E27FC236}">
                <a16:creationId xmlns:a16="http://schemas.microsoft.com/office/drawing/2014/main" id="{6CE15115-0231-400C-B3C6-F1EC16A63D21}"/>
              </a:ext>
            </a:extLst>
          </p:cNvPr>
          <p:cNvPicPr>
            <a:picLocks noChangeAspect="1"/>
          </p:cNvPicPr>
          <p:nvPr/>
        </p:nvPicPr>
        <p:blipFill>
          <a:blip r:embed="rId3"/>
          <a:stretch>
            <a:fillRect/>
          </a:stretch>
        </p:blipFill>
        <p:spPr>
          <a:xfrm>
            <a:off x="815975" y="1598296"/>
            <a:ext cx="7516752" cy="42222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D6"/>
                </a:solidFill>
                <a:latin typeface="DM Sans" pitchFamily="34" charset="0"/>
                <a:ea typeface="DM Sans" pitchFamily="34" charset="-122"/>
                <a:cs typeface="DM Sans" pitchFamily="34" charset="-120"/>
              </a:rPr>
              <a:t>DASHBOARD 02</a:t>
            </a:r>
            <a:endParaRPr lang="en-US" sz="1200" dirty="0"/>
          </a:p>
        </p:txBody>
      </p:sp>
      <p:sp>
        <p:nvSpPr>
          <p:cNvPr id="3" name="Text 1"/>
          <p:cNvSpPr>
            <a:spLocks noGrp="1"/>
          </p:cNvSpPr>
          <p:nvPr>
            <p:ph type="title"/>
          </p:nvPr>
        </p:nvSpPr>
        <p:spPr>
          <a:xfrm>
            <a:off x="812800" y="9245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B45"/>
                </a:solidFill>
                <a:latin typeface="Poppins" pitchFamily="34" charset="0"/>
                <a:ea typeface="Poppins" pitchFamily="34" charset="-122"/>
                <a:cs typeface="Poppins" pitchFamily="34" charset="-120"/>
              </a:rPr>
              <a:t>Trend Analysis</a:t>
            </a:r>
            <a:endParaRPr lang="en-US" sz="3200" dirty="0"/>
          </a:p>
        </p:txBody>
      </p:sp>
      <p:pic>
        <p:nvPicPr>
          <p:cNvPr id="4" name="Image 0" descr="Trend Analysis dashboard: sales orders and items by quarter, delivery days and late percentage by month, review score by month, revenue by quarter for 2017 and 2018"/>
          <p:cNvPicPr>
            <a:picLocks noChangeAspect="1"/>
          </p:cNvPicPr>
          <p:nvPr/>
        </p:nvPicPr>
        <p:blipFill>
          <a:blip r:embed="rId3"/>
          <a:srcRect l="-34" r="-34"/>
          <a:stretch/>
        </p:blipFill>
        <p:spPr>
          <a:xfrm>
            <a:off x="819150" y="1601471"/>
            <a:ext cx="7480300" cy="4184650"/>
          </a:xfrm>
          <a:prstGeom prst="roundRect">
            <a:avLst>
              <a:gd name="adj" fmla="val 1669"/>
            </a:avLst>
          </a:prstGeom>
          <a:effectLst>
            <a:outerShdw blurRad="203200" dist="50800" dir="5400000" algn="bl" rotWithShape="0">
              <a:srgbClr val="1C2B45">
                <a:alpha val="12000"/>
              </a:srgbClr>
            </a:outerShdw>
          </a:effectLst>
        </p:spPr>
      </p:pic>
      <p:sp>
        <p:nvSpPr>
          <p:cNvPr id="5" name="Shape 2"/>
          <p:cNvSpPr/>
          <p:nvPr/>
        </p:nvSpPr>
        <p:spPr>
          <a:xfrm>
            <a:off x="815975" y="1598296"/>
            <a:ext cx="7486650" cy="4191000"/>
          </a:xfrm>
          <a:prstGeom prst="roundRect">
            <a:avLst>
              <a:gd name="adj" fmla="val 1742"/>
            </a:avLst>
          </a:prstGeom>
          <a:noFill/>
          <a:ln w="6350">
            <a:solidFill>
              <a:srgbClr val="DCE3EE"/>
            </a:solidFill>
            <a:prstDash val="solid"/>
          </a:ln>
        </p:spPr>
      </p:sp>
      <p:sp>
        <p:nvSpPr>
          <p:cNvPr id="6" name="Text 3"/>
          <p:cNvSpPr/>
          <p:nvPr/>
        </p:nvSpPr>
        <p:spPr>
          <a:xfrm>
            <a:off x="8559800" y="1595121"/>
            <a:ext cx="290398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C2B45"/>
                </a:solidFill>
                <a:latin typeface="Poppins" pitchFamily="34" charset="0"/>
                <a:ea typeface="Poppins" pitchFamily="34" charset="-122"/>
                <a:cs typeface="Poppins" pitchFamily="34" charset="-120"/>
              </a:rPr>
              <a:t>×4</a:t>
            </a:r>
            <a:endParaRPr lang="en-US" sz="2200" dirty="0"/>
          </a:p>
        </p:txBody>
      </p:sp>
      <p:sp>
        <p:nvSpPr>
          <p:cNvPr id="7" name="Text 4"/>
          <p:cNvSpPr/>
          <p:nvPr/>
        </p:nvSpPr>
        <p:spPr>
          <a:xfrm>
            <a:off x="8559800" y="2024379"/>
            <a:ext cx="29039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orders from 2017-Q1 to 2018-Q1</a:t>
            </a:r>
            <a:endParaRPr lang="en-US" sz="1200" dirty="0"/>
          </a:p>
        </p:txBody>
      </p:sp>
      <p:sp>
        <p:nvSpPr>
          <p:cNvPr id="8" name="Text 5"/>
          <p:cNvSpPr/>
          <p:nvPr/>
        </p:nvSpPr>
        <p:spPr>
          <a:xfrm>
            <a:off x="8559800" y="2390142"/>
            <a:ext cx="290398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C2B45"/>
                </a:solidFill>
                <a:latin typeface="Poppins" pitchFamily="34" charset="0"/>
                <a:ea typeface="Poppins" pitchFamily="34" charset="-122"/>
                <a:cs typeface="Poppins" pitchFamily="34" charset="-120"/>
              </a:rPr>
              <a:t>7,544</a:t>
            </a:r>
            <a:endParaRPr lang="en-US" sz="2200" dirty="0"/>
          </a:p>
        </p:txBody>
      </p:sp>
      <p:sp>
        <p:nvSpPr>
          <p:cNvPr id="9" name="Text 6"/>
          <p:cNvSpPr/>
          <p:nvPr/>
        </p:nvSpPr>
        <p:spPr>
          <a:xfrm>
            <a:off x="8559800" y="2819400"/>
            <a:ext cx="29039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orders in Nov 2017, the biggest month</a:t>
            </a:r>
            <a:endParaRPr lang="en-US" sz="1200" dirty="0"/>
          </a:p>
        </p:txBody>
      </p:sp>
      <p:sp>
        <p:nvSpPr>
          <p:cNvPr id="10" name="Text 7"/>
          <p:cNvSpPr/>
          <p:nvPr/>
        </p:nvSpPr>
        <p:spPr>
          <a:xfrm>
            <a:off x="8559800" y="3185164"/>
            <a:ext cx="290398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0392B"/>
                </a:solidFill>
                <a:latin typeface="Poppins" pitchFamily="34" charset="0"/>
                <a:ea typeface="Poppins" pitchFamily="34" charset="-122"/>
                <a:cs typeface="Poppins" pitchFamily="34" charset="-120"/>
              </a:rPr>
              <a:t>~17 days</a:t>
            </a:r>
            <a:endParaRPr lang="en-US" sz="2200" dirty="0"/>
          </a:p>
        </p:txBody>
      </p:sp>
      <p:sp>
        <p:nvSpPr>
          <p:cNvPr id="11" name="Text 8"/>
          <p:cNvSpPr/>
          <p:nvPr/>
        </p:nvSpPr>
        <p:spPr>
          <a:xfrm>
            <a:off x="8559800" y="3614421"/>
            <a:ext cx="33832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delivery in Feb 2018, the slowest month</a:t>
            </a:r>
            <a:endParaRPr lang="en-US" sz="1200" dirty="0"/>
          </a:p>
        </p:txBody>
      </p:sp>
      <p:sp>
        <p:nvSpPr>
          <p:cNvPr id="12" name="Text 9"/>
          <p:cNvSpPr/>
          <p:nvPr/>
        </p:nvSpPr>
        <p:spPr>
          <a:xfrm>
            <a:off x="8559800" y="3980179"/>
            <a:ext cx="290398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0392B"/>
                </a:solidFill>
                <a:latin typeface="Poppins" pitchFamily="34" charset="0"/>
                <a:ea typeface="Poppins" pitchFamily="34" charset="-122"/>
                <a:cs typeface="Poppins" pitchFamily="34" charset="-120"/>
              </a:rPr>
              <a:t>3.75 ★</a:t>
            </a:r>
            <a:endParaRPr lang="en-US" sz="2200" dirty="0"/>
          </a:p>
        </p:txBody>
      </p:sp>
      <p:sp>
        <p:nvSpPr>
          <p:cNvPr id="13" name="Text 10"/>
          <p:cNvSpPr/>
          <p:nvPr/>
        </p:nvSpPr>
        <p:spPr>
          <a:xfrm>
            <a:off x="8559800" y="4409442"/>
            <a:ext cx="29039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review low in Mar 2018, after the peaks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D6"/>
                </a:solidFill>
                <a:latin typeface="DM Sans" pitchFamily="34" charset="0"/>
                <a:ea typeface="DM Sans" pitchFamily="34" charset="-122"/>
                <a:cs typeface="DM Sans" pitchFamily="34" charset="-120"/>
              </a:rPr>
              <a:t>DASHBOARD 03 · YEAR SLICER = 2017</a:t>
            </a:r>
            <a:endParaRPr lang="en-US" sz="1200" dirty="0"/>
          </a:p>
        </p:txBody>
      </p:sp>
      <p:sp>
        <p:nvSpPr>
          <p:cNvPr id="3" name="Text 1"/>
          <p:cNvSpPr>
            <a:spLocks noGrp="1"/>
          </p:cNvSpPr>
          <p:nvPr>
            <p:ph type="title"/>
          </p:nvPr>
        </p:nvSpPr>
        <p:spPr>
          <a:xfrm>
            <a:off x="812800" y="9245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B45"/>
                </a:solidFill>
                <a:latin typeface="Poppins" pitchFamily="34" charset="0"/>
                <a:ea typeface="Poppins" pitchFamily="34" charset="-122"/>
                <a:cs typeface="Poppins" pitchFamily="34" charset="-120"/>
              </a:rPr>
              <a:t>Interactive Analysis</a:t>
            </a:r>
            <a:endParaRPr lang="en-US" sz="3200" dirty="0"/>
          </a:p>
        </p:txBody>
      </p:sp>
      <p:pic>
        <p:nvPicPr>
          <p:cNvPr id="4" name="Image 0" descr="Interactive Analysis dashboard filtered to 2017: revenue by seller region, average order value by region, review score by state city, and a drill-down matrix of revenue and orders by state"/>
          <p:cNvPicPr>
            <a:picLocks noChangeAspect="1"/>
          </p:cNvPicPr>
          <p:nvPr/>
        </p:nvPicPr>
        <p:blipFill>
          <a:blip r:embed="rId3"/>
          <a:srcRect t="-236" b="-236"/>
          <a:stretch/>
        </p:blipFill>
        <p:spPr>
          <a:xfrm>
            <a:off x="819150" y="1601471"/>
            <a:ext cx="7480300" cy="4184650"/>
          </a:xfrm>
          <a:prstGeom prst="roundRect">
            <a:avLst>
              <a:gd name="adj" fmla="val 1669"/>
            </a:avLst>
          </a:prstGeom>
          <a:effectLst>
            <a:outerShdw blurRad="203200" dist="50800" dir="5400000" algn="bl" rotWithShape="0">
              <a:srgbClr val="1C2B45">
                <a:alpha val="12000"/>
              </a:srgbClr>
            </a:outerShdw>
          </a:effectLst>
        </p:spPr>
      </p:pic>
      <p:sp>
        <p:nvSpPr>
          <p:cNvPr id="5" name="Shape 2"/>
          <p:cNvSpPr/>
          <p:nvPr/>
        </p:nvSpPr>
        <p:spPr>
          <a:xfrm>
            <a:off x="815975" y="1598296"/>
            <a:ext cx="7486650" cy="4191000"/>
          </a:xfrm>
          <a:prstGeom prst="roundRect">
            <a:avLst>
              <a:gd name="adj" fmla="val 1742"/>
            </a:avLst>
          </a:prstGeom>
          <a:noFill/>
          <a:ln w="6350">
            <a:solidFill>
              <a:srgbClr val="DCE3EE"/>
            </a:solidFill>
            <a:prstDash val="solid"/>
          </a:ln>
        </p:spPr>
      </p:sp>
      <p:sp>
        <p:nvSpPr>
          <p:cNvPr id="6" name="Text 3"/>
          <p:cNvSpPr/>
          <p:nvPr/>
        </p:nvSpPr>
        <p:spPr>
          <a:xfrm>
            <a:off x="8559800" y="2181864"/>
            <a:ext cx="290398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C2B45"/>
                </a:solidFill>
                <a:latin typeface="Poppins" pitchFamily="34" charset="0"/>
                <a:ea typeface="Poppins" pitchFamily="34" charset="-122"/>
                <a:cs typeface="Poppins" pitchFamily="34" charset="-120"/>
              </a:rPr>
              <a:t>77.9%</a:t>
            </a:r>
            <a:endParaRPr lang="en-US" sz="2200" dirty="0"/>
          </a:p>
        </p:txBody>
      </p:sp>
      <p:sp>
        <p:nvSpPr>
          <p:cNvPr id="7" name="Text 4"/>
          <p:cNvSpPr/>
          <p:nvPr/>
        </p:nvSpPr>
        <p:spPr>
          <a:xfrm>
            <a:off x="8559800" y="2872746"/>
            <a:ext cx="29039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of 2017 revenue from Southeast sellers</a:t>
            </a:r>
            <a:endParaRPr lang="en-US" sz="1200" dirty="0"/>
          </a:p>
        </p:txBody>
      </p:sp>
      <p:sp>
        <p:nvSpPr>
          <p:cNvPr id="8" name="Text 5"/>
          <p:cNvSpPr/>
          <p:nvPr/>
        </p:nvSpPr>
        <p:spPr>
          <a:xfrm>
            <a:off x="8559800" y="3362964"/>
            <a:ext cx="290398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C2B45"/>
                </a:solidFill>
                <a:latin typeface="Poppins" pitchFamily="34" charset="0"/>
                <a:ea typeface="Poppins" pitchFamily="34" charset="-122"/>
                <a:cs typeface="Poppins" pitchFamily="34" charset="-120"/>
              </a:rPr>
              <a:t>R$ 178</a:t>
            </a:r>
            <a:endParaRPr lang="en-US" sz="2200" dirty="0"/>
          </a:p>
        </p:txBody>
      </p:sp>
      <p:sp>
        <p:nvSpPr>
          <p:cNvPr id="9" name="Text 6"/>
          <p:cNvSpPr/>
          <p:nvPr/>
        </p:nvSpPr>
        <p:spPr>
          <a:xfrm>
            <a:off x="8559800" y="4030982"/>
            <a:ext cx="290398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order value in the North vs R$ 130 Southeast</a:t>
            </a:r>
            <a:endParaRPr lang="en-US" sz="1200" dirty="0"/>
          </a:p>
        </p:txBody>
      </p:sp>
      <p:sp>
        <p:nvSpPr>
          <p:cNvPr id="10" name="Text 7"/>
          <p:cNvSpPr/>
          <p:nvPr/>
        </p:nvSpPr>
        <p:spPr>
          <a:xfrm>
            <a:off x="8559800" y="4564381"/>
            <a:ext cx="290398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C2B45"/>
                </a:solidFill>
                <a:latin typeface="Poppins" pitchFamily="34" charset="0"/>
                <a:ea typeface="Poppins" pitchFamily="34" charset="-122"/>
                <a:cs typeface="Poppins" pitchFamily="34" charset="-120"/>
              </a:rPr>
              <a:t>35.9%</a:t>
            </a:r>
            <a:endParaRPr lang="en-US" sz="2200" dirty="0"/>
          </a:p>
        </p:txBody>
      </p:sp>
      <p:sp>
        <p:nvSpPr>
          <p:cNvPr id="11" name="Text 8"/>
          <p:cNvSpPr/>
          <p:nvPr/>
        </p:nvSpPr>
        <p:spPr>
          <a:xfrm>
            <a:off x="8559800" y="5143499"/>
            <a:ext cx="29039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of 2017 revenue from São Paulo alone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1F4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D6"/>
                </a:solidFill>
                <a:latin typeface="DM Sans" pitchFamily="34" charset="0"/>
                <a:ea typeface="DM Sans" pitchFamily="34" charset="-122"/>
                <a:cs typeface="DM Sans" pitchFamily="34" charset="-120"/>
              </a:rPr>
              <a:t>TASK 8</a:t>
            </a:r>
            <a:endParaRPr lang="en-US" sz="1200" dirty="0"/>
          </a:p>
        </p:txBody>
      </p:sp>
      <p:sp>
        <p:nvSpPr>
          <p:cNvPr id="3" name="Text 1"/>
          <p:cNvSpPr>
            <a:spLocks noGrp="1"/>
          </p:cNvSpPr>
          <p:nvPr>
            <p:ph type="title"/>
          </p:nvPr>
        </p:nvSpPr>
        <p:spPr>
          <a:xfrm>
            <a:off x="812800" y="11023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C2B45"/>
                </a:solidFill>
                <a:latin typeface="Poppins" pitchFamily="34" charset="0"/>
                <a:ea typeface="Poppins" pitchFamily="34" charset="-122"/>
                <a:cs typeface="Poppins" pitchFamily="34" charset="-120"/>
              </a:rPr>
              <a:t>Key insights and recommendations</a:t>
            </a:r>
            <a:endParaRPr lang="en-US" sz="3200" dirty="0"/>
          </a:p>
        </p:txBody>
      </p:sp>
      <p:sp>
        <p:nvSpPr>
          <p:cNvPr id="4" name="Shape 2"/>
          <p:cNvSpPr/>
          <p:nvPr/>
        </p:nvSpPr>
        <p:spPr>
          <a:xfrm>
            <a:off x="815975" y="1826896"/>
            <a:ext cx="3414157" cy="1532890"/>
          </a:xfrm>
          <a:prstGeom prst="roundRect">
            <a:avLst>
              <a:gd name="adj" fmla="val 8078"/>
            </a:avLst>
          </a:prstGeom>
          <a:solidFill>
            <a:srgbClr val="FBFCFE"/>
          </a:solidFill>
          <a:ln w="6350">
            <a:solidFill>
              <a:srgbClr val="DCE3EE"/>
            </a:solidFill>
            <a:prstDash val="solid"/>
          </a:ln>
        </p:spPr>
      </p:sp>
      <p:sp>
        <p:nvSpPr>
          <p:cNvPr id="5" name="Text 3"/>
          <p:cNvSpPr/>
          <p:nvPr/>
        </p:nvSpPr>
        <p:spPr>
          <a:xfrm>
            <a:off x="1021080" y="2032000"/>
            <a:ext cx="309406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6FD6"/>
                </a:solidFill>
                <a:latin typeface="Poppins" pitchFamily="34" charset="0"/>
                <a:ea typeface="Poppins" pitchFamily="34" charset="-122"/>
                <a:cs typeface="Poppins" pitchFamily="34" charset="-120"/>
              </a:rPr>
              <a:t>×4 demand</a:t>
            </a:r>
            <a:endParaRPr lang="en-US" sz="2000" dirty="0"/>
          </a:p>
        </p:txBody>
      </p:sp>
      <p:sp>
        <p:nvSpPr>
          <p:cNvPr id="6" name="Text 4"/>
          <p:cNvSpPr/>
          <p:nvPr/>
        </p:nvSpPr>
        <p:spPr>
          <a:xfrm>
            <a:off x="1021080" y="2451100"/>
            <a:ext cx="309406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C2B45"/>
                </a:solidFill>
                <a:latin typeface="DM Sans" pitchFamily="34" charset="0"/>
                <a:ea typeface="DM Sans" pitchFamily="34" charset="-122"/>
                <a:cs typeface="DM Sans" pitchFamily="34" charset="-120"/>
              </a:rPr>
              <a:t>Fast growth</a:t>
            </a:r>
            <a:endParaRPr lang="en-US" sz="1400" dirty="0"/>
          </a:p>
        </p:txBody>
      </p:sp>
      <p:sp>
        <p:nvSpPr>
          <p:cNvPr id="7" name="Text 5"/>
          <p:cNvSpPr/>
          <p:nvPr/>
        </p:nvSpPr>
        <p:spPr>
          <a:xfrm>
            <a:off x="1021080" y="2727964"/>
            <a:ext cx="320587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Plan carriers and staff on the 2018 run rate</a:t>
            </a:r>
            <a:endParaRPr lang="en-US" sz="1200" dirty="0"/>
          </a:p>
        </p:txBody>
      </p:sp>
      <p:sp>
        <p:nvSpPr>
          <p:cNvPr id="8" name="Shape 6"/>
          <p:cNvSpPr/>
          <p:nvPr/>
        </p:nvSpPr>
        <p:spPr>
          <a:xfrm>
            <a:off x="4388882" y="1826896"/>
            <a:ext cx="3414157" cy="1532890"/>
          </a:xfrm>
          <a:prstGeom prst="roundRect">
            <a:avLst>
              <a:gd name="adj" fmla="val 8078"/>
            </a:avLst>
          </a:prstGeom>
          <a:solidFill>
            <a:srgbClr val="FBFCFE"/>
          </a:solidFill>
          <a:ln w="6350">
            <a:solidFill>
              <a:srgbClr val="DCE3EE"/>
            </a:solidFill>
            <a:prstDash val="solid"/>
          </a:ln>
        </p:spPr>
      </p:sp>
      <p:sp>
        <p:nvSpPr>
          <p:cNvPr id="9" name="Text 7"/>
          <p:cNvSpPr/>
          <p:nvPr/>
        </p:nvSpPr>
        <p:spPr>
          <a:xfrm>
            <a:off x="4593987" y="2032000"/>
            <a:ext cx="309406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6FD6"/>
                </a:solidFill>
                <a:latin typeface="Poppins" pitchFamily="34" charset="0"/>
                <a:ea typeface="Poppins" pitchFamily="34" charset="-122"/>
                <a:cs typeface="Poppins" pitchFamily="34" charset="-120"/>
              </a:rPr>
              <a:t>Nov 2017</a:t>
            </a:r>
            <a:endParaRPr lang="en-US" sz="2000" dirty="0"/>
          </a:p>
        </p:txBody>
      </p:sp>
      <p:sp>
        <p:nvSpPr>
          <p:cNvPr id="10" name="Text 8"/>
          <p:cNvSpPr/>
          <p:nvPr/>
        </p:nvSpPr>
        <p:spPr>
          <a:xfrm>
            <a:off x="4593987" y="2451100"/>
            <a:ext cx="309406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C2B45"/>
                </a:solidFill>
                <a:latin typeface="DM Sans" pitchFamily="34" charset="0"/>
                <a:ea typeface="DM Sans" pitchFamily="34" charset="-122"/>
                <a:cs typeface="DM Sans" pitchFamily="34" charset="-120"/>
              </a:rPr>
              <a:t>Biggest spike, then a plateau</a:t>
            </a:r>
            <a:endParaRPr lang="en-US" sz="1400" dirty="0"/>
          </a:p>
        </p:txBody>
      </p:sp>
      <p:sp>
        <p:nvSpPr>
          <p:cNvPr id="11" name="Text 9"/>
          <p:cNvSpPr/>
          <p:nvPr/>
        </p:nvSpPr>
        <p:spPr>
          <a:xfrm>
            <a:off x="4593987" y="2727964"/>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Prepare stock and delivery before November</a:t>
            </a:r>
            <a:endParaRPr lang="en-US" sz="1200" dirty="0"/>
          </a:p>
        </p:txBody>
      </p:sp>
      <p:sp>
        <p:nvSpPr>
          <p:cNvPr id="12" name="Shape 10"/>
          <p:cNvSpPr/>
          <p:nvPr/>
        </p:nvSpPr>
        <p:spPr>
          <a:xfrm>
            <a:off x="7961789" y="1826896"/>
            <a:ext cx="3414157" cy="1532890"/>
          </a:xfrm>
          <a:prstGeom prst="roundRect">
            <a:avLst>
              <a:gd name="adj" fmla="val 8078"/>
            </a:avLst>
          </a:prstGeom>
          <a:solidFill>
            <a:srgbClr val="FBFCFE"/>
          </a:solidFill>
          <a:ln w="6350">
            <a:solidFill>
              <a:srgbClr val="DCE3EE"/>
            </a:solidFill>
            <a:prstDash val="solid"/>
          </a:ln>
        </p:spPr>
      </p:sp>
      <p:sp>
        <p:nvSpPr>
          <p:cNvPr id="13" name="Text 11"/>
          <p:cNvSpPr/>
          <p:nvPr/>
        </p:nvSpPr>
        <p:spPr>
          <a:xfrm>
            <a:off x="8166894" y="2032000"/>
            <a:ext cx="309406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6FD6"/>
                </a:solidFill>
                <a:latin typeface="Poppins" pitchFamily="34" charset="0"/>
                <a:ea typeface="Poppins" pitchFamily="34" charset="-122"/>
                <a:cs typeface="Poppins" pitchFamily="34" charset="-120"/>
              </a:rPr>
              <a:t>62.4%</a:t>
            </a:r>
            <a:endParaRPr lang="en-US" sz="2000" dirty="0"/>
          </a:p>
        </p:txBody>
      </p:sp>
      <p:sp>
        <p:nvSpPr>
          <p:cNvPr id="14" name="Text 12"/>
          <p:cNvSpPr/>
          <p:nvPr/>
        </p:nvSpPr>
        <p:spPr>
          <a:xfrm>
            <a:off x="8166894" y="2451100"/>
            <a:ext cx="309406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C2B45"/>
                </a:solidFill>
                <a:latin typeface="DM Sans" pitchFamily="34" charset="0"/>
                <a:ea typeface="DM Sans" pitchFamily="34" charset="-122"/>
                <a:cs typeface="DM Sans" pitchFamily="34" charset="-120"/>
              </a:rPr>
              <a:t>Revenue from SP, RJ, MG</a:t>
            </a:r>
            <a:endParaRPr lang="en-US" sz="1400" dirty="0"/>
          </a:p>
        </p:txBody>
      </p:sp>
      <p:sp>
        <p:nvSpPr>
          <p:cNvPr id="15" name="Text 13"/>
          <p:cNvSpPr/>
          <p:nvPr/>
        </p:nvSpPr>
        <p:spPr>
          <a:xfrm>
            <a:off x="8166894" y="2727964"/>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Protect them; target BA, SC and GO next</a:t>
            </a:r>
            <a:endParaRPr lang="en-US" sz="1200" dirty="0"/>
          </a:p>
        </p:txBody>
      </p:sp>
      <p:sp>
        <p:nvSpPr>
          <p:cNvPr id="16" name="Shape 14"/>
          <p:cNvSpPr/>
          <p:nvPr/>
        </p:nvSpPr>
        <p:spPr>
          <a:xfrm>
            <a:off x="815975" y="3518539"/>
            <a:ext cx="3414157" cy="1532890"/>
          </a:xfrm>
          <a:prstGeom prst="roundRect">
            <a:avLst>
              <a:gd name="adj" fmla="val 8078"/>
            </a:avLst>
          </a:prstGeom>
          <a:solidFill>
            <a:srgbClr val="FBFCFE"/>
          </a:solidFill>
          <a:ln w="6350">
            <a:solidFill>
              <a:srgbClr val="DCE3EE"/>
            </a:solidFill>
            <a:prstDash val="solid"/>
          </a:ln>
        </p:spPr>
      </p:sp>
      <p:sp>
        <p:nvSpPr>
          <p:cNvPr id="17" name="Text 15"/>
          <p:cNvSpPr/>
          <p:nvPr/>
        </p:nvSpPr>
        <p:spPr>
          <a:xfrm>
            <a:off x="1021080" y="3723642"/>
            <a:ext cx="309406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9761C"/>
                </a:solidFill>
                <a:latin typeface="Poppins" pitchFamily="34" charset="0"/>
                <a:ea typeface="Poppins" pitchFamily="34" charset="-122"/>
                <a:cs typeface="Poppins" pitchFamily="34" charset="-120"/>
              </a:rPr>
              <a:t>77.9%</a:t>
            </a:r>
            <a:endParaRPr lang="en-US" sz="2000" dirty="0"/>
          </a:p>
        </p:txBody>
      </p:sp>
      <p:sp>
        <p:nvSpPr>
          <p:cNvPr id="18" name="Text 16"/>
          <p:cNvSpPr/>
          <p:nvPr/>
        </p:nvSpPr>
        <p:spPr>
          <a:xfrm>
            <a:off x="1021080" y="4142742"/>
            <a:ext cx="309406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C2B45"/>
                </a:solidFill>
                <a:latin typeface="DM Sans" pitchFamily="34" charset="0"/>
                <a:ea typeface="DM Sans" pitchFamily="34" charset="-122"/>
                <a:cs typeface="DM Sans" pitchFamily="34" charset="-120"/>
              </a:rPr>
              <a:t>Sellers in the Southeast</a:t>
            </a:r>
            <a:endParaRPr lang="en-US" sz="1400" dirty="0"/>
          </a:p>
        </p:txBody>
      </p:sp>
      <p:sp>
        <p:nvSpPr>
          <p:cNvPr id="19" name="Text 17"/>
          <p:cNvSpPr/>
          <p:nvPr/>
        </p:nvSpPr>
        <p:spPr>
          <a:xfrm>
            <a:off x="1021080" y="4419600"/>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Recruit sellers closer to other regions</a:t>
            </a:r>
            <a:endParaRPr lang="en-US" sz="1200" dirty="0"/>
          </a:p>
        </p:txBody>
      </p:sp>
      <p:sp>
        <p:nvSpPr>
          <p:cNvPr id="20" name="Shape 18"/>
          <p:cNvSpPr/>
          <p:nvPr/>
        </p:nvSpPr>
        <p:spPr>
          <a:xfrm>
            <a:off x="4388882" y="3518539"/>
            <a:ext cx="3414157" cy="1532890"/>
          </a:xfrm>
          <a:prstGeom prst="roundRect">
            <a:avLst>
              <a:gd name="adj" fmla="val 8078"/>
            </a:avLst>
          </a:prstGeom>
          <a:solidFill>
            <a:srgbClr val="FBFCFE"/>
          </a:solidFill>
          <a:ln w="6350">
            <a:solidFill>
              <a:srgbClr val="DCE3EE"/>
            </a:solidFill>
            <a:prstDash val="solid"/>
          </a:ln>
        </p:spPr>
      </p:sp>
      <p:sp>
        <p:nvSpPr>
          <p:cNvPr id="21" name="Text 19"/>
          <p:cNvSpPr/>
          <p:nvPr/>
        </p:nvSpPr>
        <p:spPr>
          <a:xfrm>
            <a:off x="4593987" y="3723642"/>
            <a:ext cx="309406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C0392B"/>
                </a:solidFill>
                <a:latin typeface="Poppins" pitchFamily="34" charset="0"/>
                <a:ea typeface="Poppins" pitchFamily="34" charset="-122"/>
                <a:cs typeface="Poppins" pitchFamily="34" charset="-120"/>
              </a:rPr>
              <a:t>3.75 ★</a:t>
            </a:r>
            <a:endParaRPr lang="en-US" sz="2000" dirty="0"/>
          </a:p>
        </p:txBody>
      </p:sp>
      <p:sp>
        <p:nvSpPr>
          <p:cNvPr id="22" name="Text 20"/>
          <p:cNvSpPr/>
          <p:nvPr/>
        </p:nvSpPr>
        <p:spPr>
          <a:xfrm>
            <a:off x="4593987" y="4142742"/>
            <a:ext cx="309406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C2B45"/>
                </a:solidFill>
                <a:latin typeface="DM Sans" pitchFamily="34" charset="0"/>
                <a:ea typeface="DM Sans" pitchFamily="34" charset="-122"/>
                <a:cs typeface="DM Sans" pitchFamily="34" charset="-120"/>
              </a:rPr>
              <a:t>Slow peaks hurt reviews</a:t>
            </a:r>
            <a:endParaRPr lang="en-US" sz="1400" dirty="0"/>
          </a:p>
        </p:txBody>
      </p:sp>
      <p:sp>
        <p:nvSpPr>
          <p:cNvPr id="23" name="Text 21"/>
          <p:cNvSpPr/>
          <p:nvPr/>
        </p:nvSpPr>
        <p:spPr>
          <a:xfrm>
            <a:off x="4593987" y="4419600"/>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Add capacity before peaks; warn late customers</a:t>
            </a:r>
            <a:endParaRPr lang="en-US" sz="1200" dirty="0"/>
          </a:p>
        </p:txBody>
      </p:sp>
      <p:sp>
        <p:nvSpPr>
          <p:cNvPr id="24" name="Shape 22"/>
          <p:cNvSpPr/>
          <p:nvPr/>
        </p:nvSpPr>
        <p:spPr>
          <a:xfrm>
            <a:off x="7961789" y="3518539"/>
            <a:ext cx="3414157" cy="1532890"/>
          </a:xfrm>
          <a:prstGeom prst="roundRect">
            <a:avLst>
              <a:gd name="adj" fmla="val 8078"/>
            </a:avLst>
          </a:prstGeom>
          <a:solidFill>
            <a:srgbClr val="FBFCFE"/>
          </a:solidFill>
          <a:ln w="6350">
            <a:solidFill>
              <a:srgbClr val="DCE3EE"/>
            </a:solidFill>
            <a:prstDash val="solid"/>
          </a:ln>
        </p:spPr>
      </p:sp>
      <p:sp>
        <p:nvSpPr>
          <p:cNvPr id="25" name="Text 23"/>
          <p:cNvSpPr/>
          <p:nvPr/>
        </p:nvSpPr>
        <p:spPr>
          <a:xfrm>
            <a:off x="8166894" y="3723642"/>
            <a:ext cx="309406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C0392B"/>
                </a:solidFill>
                <a:latin typeface="Poppins" pitchFamily="34" charset="0"/>
                <a:ea typeface="Poppins" pitchFamily="34" charset="-122"/>
                <a:cs typeface="Poppins" pitchFamily="34" charset="-120"/>
              </a:rPr>
              <a:t>1.03</a:t>
            </a:r>
            <a:endParaRPr lang="en-US" sz="2000" dirty="0"/>
          </a:p>
        </p:txBody>
      </p:sp>
      <p:sp>
        <p:nvSpPr>
          <p:cNvPr id="26" name="Text 24"/>
          <p:cNvSpPr/>
          <p:nvPr/>
        </p:nvSpPr>
        <p:spPr>
          <a:xfrm>
            <a:off x="8166894" y="4142742"/>
            <a:ext cx="309406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C2B45"/>
                </a:solidFill>
                <a:latin typeface="DM Sans" pitchFamily="34" charset="0"/>
                <a:ea typeface="DM Sans" pitchFamily="34" charset="-122"/>
                <a:cs typeface="DM Sans" pitchFamily="34" charset="-120"/>
              </a:rPr>
              <a:t>Orders per customer</a:t>
            </a:r>
            <a:endParaRPr lang="en-US" sz="1400" dirty="0"/>
          </a:p>
        </p:txBody>
      </p:sp>
      <p:sp>
        <p:nvSpPr>
          <p:cNvPr id="27" name="Text 25"/>
          <p:cNvSpPr/>
          <p:nvPr/>
        </p:nvSpPr>
        <p:spPr>
          <a:xfrm>
            <a:off x="8166894" y="4419600"/>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Start a repeat-purchase programme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C2B45"/>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C2B45"/>
              </a:gs>
              <a:gs pos="100000">
                <a:srgbClr val="2B3F63"/>
              </a:gs>
            </a:gsLst>
            <a:lin ang="2700000" scaled="0"/>
          </a:gradFill>
          <a:ln/>
        </p:spPr>
      </p:sp>
      <p:pic>
        <p:nvPicPr>
          <p:cNvPr id="3" name="Image 0" descr="ellipse"/>
          <p:cNvPicPr>
            <a:picLocks noChangeAspect="1"/>
          </p:cNvPicPr>
          <p:nvPr/>
        </p:nvPicPr>
        <p:blipFill>
          <a:blip r:embed="rId3"/>
          <a:srcRect/>
          <a:stretch/>
        </p:blipFill>
        <p:spPr>
          <a:xfrm>
            <a:off x="8636000" y="0"/>
            <a:ext cx="4826000" cy="4826000"/>
          </a:xfrm>
          <a:prstGeom prst="rect">
            <a:avLst/>
          </a:prstGeom>
        </p:spPr>
      </p:pic>
      <p:sp>
        <p:nvSpPr>
          <p:cNvPr id="8" name="Text 5"/>
          <p:cNvSpPr/>
          <p:nvPr/>
        </p:nvSpPr>
        <p:spPr>
          <a:xfrm>
            <a:off x="3891280" y="3167380"/>
            <a:ext cx="1088339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8DB4F7"/>
                </a:solidFill>
                <a:latin typeface="Poppins" pitchFamily="34" charset="0"/>
                <a:ea typeface="Poppins" pitchFamily="34" charset="-122"/>
                <a:cs typeface="Poppins" pitchFamily="34" charset="-120"/>
              </a:rPr>
              <a:t>Thank you · Questions?</a:t>
            </a:r>
            <a:endParaRPr lang="en-US" sz="2800" dirty="0"/>
          </a:p>
        </p:txBody>
      </p:sp>
    </p:spTree>
  </p:cSld>
  <p:clrMapOvr>
    <a:masterClrMapping/>
  </p:clrMapOvr>
</p:sld>
</file>

<file path=ppt/theme/theme1.xml><?xml version="1.0" encoding="utf-8"?>
<a:theme xmlns:a="http://schemas.openxmlformats.org/drawingml/2006/main" name="Olist DWBI Project Presentation">
  <a:themeElements>
    <a:clrScheme name="Olist DWBI Project Presentation">
      <a:dk1>
        <a:srgbClr val="1C2B45"/>
      </a:dk1>
      <a:lt1>
        <a:srgbClr val="F1F4F9"/>
      </a:lt1>
      <a:dk2>
        <a:srgbClr val="515D72"/>
      </a:dk2>
      <a:lt2>
        <a:srgbClr val="DCE0E7"/>
      </a:lt2>
      <a:accent1>
        <a:srgbClr val="2F6FD6"/>
      </a:accent1>
      <a:accent2>
        <a:srgbClr val="8DB4F7"/>
      </a:accent2>
      <a:accent3>
        <a:srgbClr val="C0392B"/>
      </a:accent3>
      <a:accent4>
        <a:srgbClr val="B9761C"/>
      </a:accent4>
      <a:accent5>
        <a:srgbClr val="2B3F63"/>
      </a:accent5>
      <a:accent6>
        <a:srgbClr val="2E8570"/>
      </a:accent6>
      <a:hlink>
        <a:srgbClr val="0563C1"/>
      </a:hlink>
      <a:folHlink>
        <a:srgbClr val="954F72"/>
      </a:folHlink>
    </a:clrScheme>
    <a:fontScheme name="Olist DWBI Project Presentation">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2445</Words>
  <Application>Microsoft Office PowerPoint</Application>
  <PresentationFormat>Widescreen</PresentationFormat>
  <Paragraphs>222</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DM Sans</vt:lpstr>
      <vt:lpstr>Poppins</vt:lpstr>
      <vt:lpstr>Olist DWBI Project Presentation</vt:lpstr>
      <vt:lpstr>Olist Brazilian E-Commerce Data Warehouse &amp; BI Solution</vt:lpstr>
      <vt:lpstr>The project at a glance</vt:lpstr>
      <vt:lpstr>Three sources of three different types</vt:lpstr>
      <vt:lpstr>A four-layer architecture</vt:lpstr>
      <vt:lpstr>Quality problems found, and how we handled them</vt:lpstr>
      <vt:lpstr>Fact constellation schema</vt:lpstr>
      <vt:lpstr>ETL with four SSIS packages</vt:lpstr>
      <vt:lpstr>Two department data marts</vt:lpstr>
      <vt:lpstr>SSAS cube Olist_Cube</vt:lpstr>
      <vt:lpstr>The dashboards</vt:lpstr>
      <vt:lpstr>Executive Summary</vt:lpstr>
      <vt:lpstr>Trend Analysis</vt:lpstr>
      <vt:lpstr>Interactive Analysis</vt:lpstr>
      <vt:lpstr>Key insights and 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Olist DWBI Project Presentation</dc:title>
  <dc:subject/>
  <dc:creator/>
  <cp:lastModifiedBy>Sayu wanigasooriya</cp:lastModifiedBy>
  <cp:revision>4</cp:revision>
  <dcterms:created xsi:type="dcterms:W3CDTF">2026-10-07T01:02:43Z</dcterms:created>
  <dcterms:modified xsi:type="dcterms:W3CDTF">2026-10-07T03:24:00Z</dcterms:modified>
</cp:coreProperties>
</file>